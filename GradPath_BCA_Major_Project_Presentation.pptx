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b255bc572c4dfc" /><Relationship Type="http://schemas.openxmlformats.org/officeDocument/2006/relationships/extended-properties" Target="/docProps/app.xml" Id="Rec81cd8ef152455e" /><Relationship Type="http://schemas.openxmlformats.org/officeDocument/2006/relationships/officeDocument" Target="/ppt/presentation.xml" Id="R0dd69d7621e74660" /></Relationships>
</file>

<file path=ppt/presentation.xml><?xml version="1.0" encoding="utf-8"?>
<p:presentation xmlns:p="http://schemas.openxmlformats.org/presentationml/2006/main">
  <p:sldMasterIdLst>
    <p:sldMasterId xmlns:r="http://schemas.openxmlformats.org/officeDocument/2006/relationships" id="2147483648" r:id="R10fe96f9e96b4e25"/>
  </p:sldMasterIdLst>
  <p:notesMasterIdLst>
    <p:notesMasterId xmlns:r="http://schemas.openxmlformats.org/officeDocument/2006/relationships" r:id="R2f3d4429f93f412b"/>
  </p:notesMasterIdLst>
  <p:sldIdLst>
    <p:sldId xmlns:r="http://schemas.openxmlformats.org/officeDocument/2006/relationships" id="256" r:id="R6ccf6426c1c54b62"/>
    <p:sldId xmlns:r="http://schemas.openxmlformats.org/officeDocument/2006/relationships" id="257" r:id="Ra8892890865442a5"/>
    <p:sldId xmlns:r="http://schemas.openxmlformats.org/officeDocument/2006/relationships" id="258" r:id="R9ad6667d9e514218"/>
    <p:sldId xmlns:r="http://schemas.openxmlformats.org/officeDocument/2006/relationships" id="259" r:id="Rf84592d0984f4c7f"/>
    <p:sldId xmlns:r="http://schemas.openxmlformats.org/officeDocument/2006/relationships" id="260" r:id="Re21733d25c12419e"/>
    <p:sldId xmlns:r="http://schemas.openxmlformats.org/officeDocument/2006/relationships" id="261" r:id="Rc8b5ff09a5414bfe"/>
    <p:sldId xmlns:r="http://schemas.openxmlformats.org/officeDocument/2006/relationships" id="262" r:id="R95efa463e1464d29"/>
    <p:sldId xmlns:r="http://schemas.openxmlformats.org/officeDocument/2006/relationships" id="263" r:id="Rf622ce3572894d14"/>
    <p:sldId xmlns:r="http://schemas.openxmlformats.org/officeDocument/2006/relationships" id="264" r:id="R645e80576f8b457b"/>
    <p:sldId xmlns:r="http://schemas.openxmlformats.org/officeDocument/2006/relationships" id="265" r:id="Re2b922eaaa9342a7"/>
    <p:sldId xmlns:r="http://schemas.openxmlformats.org/officeDocument/2006/relationships" id="266" r:id="Rcce7d600f49e4feb"/>
    <p:sldId xmlns:r="http://schemas.openxmlformats.org/officeDocument/2006/relationships" id="267" r:id="R28dab8a4d8044343"/>
    <p:sldId xmlns:r="http://schemas.openxmlformats.org/officeDocument/2006/relationships" id="268" r:id="Ra3b0830fd8ab43e1"/>
    <p:sldId xmlns:r="http://schemas.openxmlformats.org/officeDocument/2006/relationships" id="269" r:id="R40b88b74ed424f8f"/>
    <p:sldId xmlns:r="http://schemas.openxmlformats.org/officeDocument/2006/relationships" id="270" r:id="R5f2616c700db40f9"/>
    <p:sldId xmlns:r="http://schemas.openxmlformats.org/officeDocument/2006/relationships" id="271" r:id="R2ecdb9fe40b943d4"/>
    <p:sldId xmlns:r="http://schemas.openxmlformats.org/officeDocument/2006/relationships" id="272" r:id="R9cb5339858c442d7"/>
    <p:sldId xmlns:r="http://schemas.openxmlformats.org/officeDocument/2006/relationships" id="273" r:id="R17361fef51b8441c"/>
    <p:sldId xmlns:r="http://schemas.openxmlformats.org/officeDocument/2006/relationships" id="274" r:id="R7b32c32427e04d15"/>
    <p:sldId xmlns:r="http://schemas.openxmlformats.org/officeDocument/2006/relationships" id="275" r:id="R51a40e7b64654c78"/>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0fe96f9e96b4e25" /><Relationship Type="http://schemas.openxmlformats.org/officeDocument/2006/relationships/theme" Target="/ppt/theme/theme1.xml" Id="R7f7357fda86e4fb2" /><Relationship Type="http://schemas.openxmlformats.org/officeDocument/2006/relationships/notesMaster" Target="/ppt/notesMasters/notesMaster1.xml" Id="R2f3d4429f93f412b" /><Relationship Type="http://schemas.openxmlformats.org/officeDocument/2006/relationships/presProps" Target="/ppt/presProps.xml" Id="R0a6fcdd054af4759" /><Relationship Type="http://schemas.openxmlformats.org/officeDocument/2006/relationships/viewProps" Target="/ppt/viewProps.xml" Id="R188150bc4b16418b" /><Relationship Type="http://schemas.openxmlformats.org/officeDocument/2006/relationships/tableStyles" Target="/ppt/tableStyles.xml" Id="R17a00aa9bc01455f" /><Relationship Type="http://schemas.openxmlformats.org/officeDocument/2006/relationships/slide" Target="/ppt/slides/slide1.xml" Id="R6ccf6426c1c54b62" /><Relationship Type="http://schemas.openxmlformats.org/officeDocument/2006/relationships/slide" Target="/ppt/slides/slide2.xml" Id="Ra8892890865442a5" /><Relationship Type="http://schemas.openxmlformats.org/officeDocument/2006/relationships/slide" Target="/ppt/slides/slide3.xml" Id="R9ad6667d9e514218" /><Relationship Type="http://schemas.openxmlformats.org/officeDocument/2006/relationships/slide" Target="/ppt/slides/slide4.xml" Id="Rf84592d0984f4c7f" /><Relationship Type="http://schemas.openxmlformats.org/officeDocument/2006/relationships/slide" Target="/ppt/slides/slide5.xml" Id="Re21733d25c12419e" /><Relationship Type="http://schemas.openxmlformats.org/officeDocument/2006/relationships/slide" Target="/ppt/slides/slide6.xml" Id="Rc8b5ff09a5414bfe" /><Relationship Type="http://schemas.openxmlformats.org/officeDocument/2006/relationships/slide" Target="/ppt/slides/slide7.xml" Id="R95efa463e1464d29" /><Relationship Type="http://schemas.openxmlformats.org/officeDocument/2006/relationships/slide" Target="/ppt/slides/slide8.xml" Id="Rf622ce3572894d14" /><Relationship Type="http://schemas.openxmlformats.org/officeDocument/2006/relationships/slide" Target="/ppt/slides/slide9.xml" Id="R645e80576f8b457b" /><Relationship Type="http://schemas.openxmlformats.org/officeDocument/2006/relationships/slide" Target="/ppt/slides/slide10.xml" Id="Re2b922eaaa9342a7" /><Relationship Type="http://schemas.openxmlformats.org/officeDocument/2006/relationships/slide" Target="/ppt/slides/slide11.xml" Id="Rcce7d600f49e4feb" /><Relationship Type="http://schemas.openxmlformats.org/officeDocument/2006/relationships/slide" Target="/ppt/slides/slide12.xml" Id="R28dab8a4d8044343" /><Relationship Type="http://schemas.openxmlformats.org/officeDocument/2006/relationships/slide" Target="/ppt/slides/slide13.xml" Id="Ra3b0830fd8ab43e1" /><Relationship Type="http://schemas.openxmlformats.org/officeDocument/2006/relationships/slide" Target="/ppt/slides/slide14.xml" Id="R40b88b74ed424f8f" /><Relationship Type="http://schemas.openxmlformats.org/officeDocument/2006/relationships/slide" Target="/ppt/slides/slide15.xml" Id="R5f2616c700db40f9" /><Relationship Type="http://schemas.openxmlformats.org/officeDocument/2006/relationships/slide" Target="/ppt/slides/slide16.xml" Id="R2ecdb9fe40b943d4" /><Relationship Type="http://schemas.openxmlformats.org/officeDocument/2006/relationships/slide" Target="/ppt/slides/slide17.xml" Id="R9cb5339858c442d7" /><Relationship Type="http://schemas.openxmlformats.org/officeDocument/2006/relationships/slide" Target="/ppt/slides/slide18.xml" Id="R17361fef51b8441c" /><Relationship Type="http://schemas.openxmlformats.org/officeDocument/2006/relationships/slide" Target="/ppt/slides/slide19.xml" Id="R7b32c32427e04d15" /><Relationship Type="http://schemas.openxmlformats.org/officeDocument/2006/relationships/slide" Target="/ppt/slides/slide20.xml" Id="R51a40e7b64654c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908ca82d96c4a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7d9556bf524dc6" /><Relationship Type="http://schemas.openxmlformats.org/officeDocument/2006/relationships/notesMaster" Target="/ppt/notesMasters/notesMaster1.xml" Id="R3c62e256fdc64d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bb73d9b46a477a" /><Relationship Type="http://schemas.openxmlformats.org/officeDocument/2006/relationships/notesMaster" Target="/ppt/notesMasters/notesMaster1.xml" Id="Rec37c074b61f46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91ffc1ac8a4a4f" /><Relationship Type="http://schemas.openxmlformats.org/officeDocument/2006/relationships/notesMaster" Target="/ppt/notesMasters/notesMaster1.xml" Id="Rf7c04efeb5104c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aca05d6fbe4952" /><Relationship Type="http://schemas.openxmlformats.org/officeDocument/2006/relationships/notesMaster" Target="/ppt/notesMasters/notesMaster1.xml" Id="R4605ed16012c44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e6968c1814b3d" /><Relationship Type="http://schemas.openxmlformats.org/officeDocument/2006/relationships/notesMaster" Target="/ppt/notesMasters/notesMaster1.xml" Id="R16b6e41f93134f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ea3d787d5143ca" /><Relationship Type="http://schemas.openxmlformats.org/officeDocument/2006/relationships/notesMaster" Target="/ppt/notesMasters/notesMaster1.xml" Id="R42ba9a2a15f04f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37ed1a22f740e1" /><Relationship Type="http://schemas.openxmlformats.org/officeDocument/2006/relationships/notesMaster" Target="/ppt/notesMasters/notesMaster1.xml" Id="Ra4ce69c338114c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5c6fcfd66e40a5" /><Relationship Type="http://schemas.openxmlformats.org/officeDocument/2006/relationships/notesMaster" Target="/ppt/notesMasters/notesMaster1.xml" Id="R88a12feea57749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0c31cfed5f46dc" /><Relationship Type="http://schemas.openxmlformats.org/officeDocument/2006/relationships/notesMaster" Target="/ppt/notesMasters/notesMaster1.xml" Id="R4dfadba5c5a64b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55a36963b7412d" /><Relationship Type="http://schemas.openxmlformats.org/officeDocument/2006/relationships/notesMaster" Target="/ppt/notesMasters/notesMaster1.xml" Id="Rf3de7d5c7e2543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d6954acc5643c7" /><Relationship Type="http://schemas.openxmlformats.org/officeDocument/2006/relationships/notesMaster" Target="/ppt/notesMasters/notesMaster1.xml" Id="R4b6b1231fe4649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727477b2234b38" /><Relationship Type="http://schemas.openxmlformats.org/officeDocument/2006/relationships/notesMaster" Target="/ppt/notesMasters/notesMaster1.xml" Id="Ra41460fc379845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6b909c78ad4b5f" /><Relationship Type="http://schemas.openxmlformats.org/officeDocument/2006/relationships/notesMaster" Target="/ppt/notesMasters/notesMaster1.xml" Id="R5e18075bf9b74e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33fa93c15144a7" /><Relationship Type="http://schemas.openxmlformats.org/officeDocument/2006/relationships/notesMaster" Target="/ppt/notesMasters/notesMaster1.xml" Id="R7ac5cd22a31544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f5d216808e4bf9" /><Relationship Type="http://schemas.openxmlformats.org/officeDocument/2006/relationships/notesMaster" Target="/ppt/notesMasters/notesMaster1.xml" Id="R0beaa181ab6d4b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200862d2ff4712" /><Relationship Type="http://schemas.openxmlformats.org/officeDocument/2006/relationships/notesMaster" Target="/ppt/notesMasters/notesMaster1.xml" Id="R2d6b6337908542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1a567378cf43ec" /><Relationship Type="http://schemas.openxmlformats.org/officeDocument/2006/relationships/notesMaster" Target="/ppt/notesMasters/notesMaster1.xml" Id="R29d555d0e1f9479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bc8ddf9b774fea" /><Relationship Type="http://schemas.openxmlformats.org/officeDocument/2006/relationships/notesMaster" Target="/ppt/notesMasters/notesMaster1.xml" Id="Rdd1fff2216f4411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904d72e7eb408a" /><Relationship Type="http://schemas.openxmlformats.org/officeDocument/2006/relationships/notesMaster" Target="/ppt/notesMasters/notesMaster1.xml" Id="R2af3ee319bff4d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ff521401e5c4122" /><Relationship Type="http://schemas.openxmlformats.org/officeDocument/2006/relationships/notesMaster" Target="/ppt/notesMasters/notesMaster1.xml" Id="R57b89328c64d4e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3cec719b394713"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85598b699d043f3" /><Relationship Type="http://schemas.openxmlformats.org/officeDocument/2006/relationships/slideLayout" Target="/ppt/slideLayouts/slideLayout2.xml" Id="Rff97fc6c5e664b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97fc6c5e664b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9a567e0e20a340b1" /><Relationship Type="http://schemas.openxmlformats.org/officeDocument/2006/relationships/image" Target="/ppt/media/image.jpeg" Id="R6a732df049c14fac" /><Relationship Type="http://schemas.openxmlformats.org/officeDocument/2006/relationships/image" Target="/ppt/media/image2.jpeg" Id="Rfc7c9ad4b8ce459f" /><Relationship Type="http://schemas.openxmlformats.org/officeDocument/2006/relationships/notesSlide" Target="/ppt/notesSlides/notesSlide1.xml" Id="Ra3f26e2c93dc4c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51d1d8413dc477d" /><Relationship Type="http://schemas.openxmlformats.org/officeDocument/2006/relationships/image" Target="/ppt/media/image3.jpeg" Id="R7e4e82407e894e21" /><Relationship Type="http://schemas.openxmlformats.org/officeDocument/2006/relationships/notesSlide" Target="/ppt/notesSlides/notesSlide2.xml" Id="Rb617de14893d45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b3640932bf24ddb" /><Relationship Type="http://schemas.openxmlformats.org/officeDocument/2006/relationships/notesSlide" Target="/ppt/notesSlides/notesSlide3.xml" Id="R5f7f7e71bbe247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220c7286302475d" /><Relationship Type="http://schemas.openxmlformats.org/officeDocument/2006/relationships/notesSlide" Target="/ppt/notesSlides/notesSlide4.xml" Id="R52e468c3cb8c41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a2d4b1c61ef4c98" /><Relationship Type="http://schemas.openxmlformats.org/officeDocument/2006/relationships/notesSlide" Target="/ppt/notesSlides/notesSlide5.xml" Id="Re26d932b287840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a13c33f7fc5450d" /><Relationship Type="http://schemas.openxmlformats.org/officeDocument/2006/relationships/notesSlide" Target="/ppt/notesSlides/notesSlide6.xml" Id="R794c55429d2f4c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cbca03389c34b90" /><Relationship Type="http://schemas.openxmlformats.org/officeDocument/2006/relationships/image" Target="/ppt/media/image4.jpeg" Id="Rb8a11a571e124d51" /><Relationship Type="http://schemas.openxmlformats.org/officeDocument/2006/relationships/notesSlide" Target="/ppt/notesSlides/notesSlide7.xml" Id="Rcb9db644e47d42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cd800deef0746b8" /><Relationship Type="http://schemas.openxmlformats.org/officeDocument/2006/relationships/image" Target="/ppt/media/image5.jpeg" Id="R7bddf49c0c7343e3" /><Relationship Type="http://schemas.openxmlformats.org/officeDocument/2006/relationships/notesSlide" Target="/ppt/notesSlides/notesSlide8.xml" Id="Re761a70856724e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7d09f5243b94aa3" /><Relationship Type="http://schemas.openxmlformats.org/officeDocument/2006/relationships/image" Target="/ppt/media/image6.jpeg" Id="Rf7711d687c9e4ba0" /><Relationship Type="http://schemas.openxmlformats.org/officeDocument/2006/relationships/notesSlide" Target="/ppt/notesSlides/notesSlide9.xml" Id="R11079d22945340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86414e899e248d1" /><Relationship Type="http://schemas.openxmlformats.org/officeDocument/2006/relationships/image" Target="/ppt/media/image.png" Id="R229a8cff27af425f" /><Relationship Type="http://schemas.openxmlformats.org/officeDocument/2006/relationships/notesSlide" Target="/ppt/notesSlides/notesSlide10.xml" Id="R070b8326712442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6bb2c69220d441e" /><Relationship Type="http://schemas.openxmlformats.org/officeDocument/2006/relationships/notesSlide" Target="/ppt/notesSlides/notesSlide11.xml" Id="R0020e009fb334c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3965fcda0d74462" /><Relationship Type="http://schemas.openxmlformats.org/officeDocument/2006/relationships/image" Target="/ppt/media/image7.jpeg" Id="R5d1cc72808c74796" /><Relationship Type="http://schemas.openxmlformats.org/officeDocument/2006/relationships/notesSlide" Target="/ppt/notesSlides/notesSlide12.xml" Id="R5024e556c34e4b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a791581547e45b3" /><Relationship Type="http://schemas.openxmlformats.org/officeDocument/2006/relationships/image" Target="/ppt/media/image2.png" Id="Rdbe17c0775044a9a" /><Relationship Type="http://schemas.openxmlformats.org/officeDocument/2006/relationships/image" Target="/ppt/media/image8.jpeg" Id="R19176db4dd6c4b8a" /><Relationship Type="http://schemas.openxmlformats.org/officeDocument/2006/relationships/image" Target="/ppt/media/image9.jpeg" Id="Rc242717ec35a4786" /><Relationship Type="http://schemas.openxmlformats.org/officeDocument/2006/relationships/image" Target="/ppt/media/image10.jpeg" Id="Re1afd6e403c54ca5" /><Relationship Type="http://schemas.openxmlformats.org/officeDocument/2006/relationships/notesSlide" Target="/ppt/notesSlides/notesSlide13.xml" Id="R77df41dd454045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ce6a8bb6fa9458c" /><Relationship Type="http://schemas.openxmlformats.org/officeDocument/2006/relationships/image" Target="/ppt/media/image11.jpeg" Id="R53a50c422ff24099" /><Relationship Type="http://schemas.openxmlformats.org/officeDocument/2006/relationships/image" Target="/ppt/media/image12.jpeg" Id="Ra65011a6ca894e95" /><Relationship Type="http://schemas.openxmlformats.org/officeDocument/2006/relationships/notesSlide" Target="/ppt/notesSlides/notesSlide14.xml" Id="Rf460818d4e9a44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f3b6fd14dfa43d9" /><Relationship Type="http://schemas.openxmlformats.org/officeDocument/2006/relationships/notesSlide" Target="/ppt/notesSlides/notesSlide15.xml" Id="R79cf7a752a93459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6901480e6a04899" /><Relationship Type="http://schemas.openxmlformats.org/officeDocument/2006/relationships/notesSlide" Target="/ppt/notesSlides/notesSlide16.xml" Id="R12f7ee17b2a64a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97a4c6975044e9a" /><Relationship Type="http://schemas.openxmlformats.org/officeDocument/2006/relationships/notesSlide" Target="/ppt/notesSlides/notesSlide17.xml" Id="Refce4a92bf5d46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6e9d0bdbdb7416c" /><Relationship Type="http://schemas.openxmlformats.org/officeDocument/2006/relationships/notesSlide" Target="/ppt/notesSlides/notesSlide18.xml" Id="R957382437728461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af9448fb07444c5d" /><Relationship Type="http://schemas.openxmlformats.org/officeDocument/2006/relationships/notesSlide" Target="/ppt/notesSlides/notesSlide19.xml" Id="Re8a49e0ece3f410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1424fa6158f427d" /><Relationship Type="http://schemas.openxmlformats.org/officeDocument/2006/relationships/image" Target="/ppt/media/image13.jpeg" Id="Rad8285e36fce449c" /><Relationship Type="http://schemas.openxmlformats.org/officeDocument/2006/relationships/image" Target="/ppt/media/image14.jpeg" Id="R8921c3d1d84e4c4f" /><Relationship Type="http://schemas.openxmlformats.org/officeDocument/2006/relationships/notesSlide" Target="/ppt/notesSlides/notesSlide20.xml" Id="R89f7906b7de946d0"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2ED17B-5E3D-46A6-9436-BFAF1FB37ECB}"/>
              </a:ext>
            </a:extLst>
          </p:cNvPr>
          <p:cNvSpPr>
            <a:spLocks xmlns:a="http://schemas.openxmlformats.org/drawingml/2006/main" noGrp="1"/>
          </p:cNvSpPr>
          <p:nvPr/>
        </p:nvSpPr>
        <p:spPr>
          <a:xfrm xmlns:a="http://schemas.openxmlformats.org/drawingml/2006/main">
            <a:off x="0" y="0"/>
            <a:ext cx="2667000" cy="10287000"/>
          </a:xfrm>
          <a:prstGeom xmlns:a="http://schemas.openxmlformats.org/drawingml/2006/main" prst="rect">
            <a:avLst/>
          </a:prstGeom>
          <a:solidFill xmlns:a="http://schemas.openxmlformats.org/drawingml/2006/main">
            <a:srgbClr val="E8F0E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469D40-18FA-4532-9007-1E14A1E2F55A}"/>
              </a:ext>
            </a:extLst>
          </p:cNvPr>
          <p:cNvSpPr>
            <a:spLocks xmlns:a="http://schemas.openxmlformats.org/drawingml/2006/main" noGrp="1"/>
          </p:cNvSpPr>
          <p:nvPr/>
        </p:nvSpPr>
        <p:spPr>
          <a:xfrm xmlns:a="http://schemas.openxmlformats.org/drawingml/2006/main">
            <a:off x="2667000" y="0"/>
            <a:ext cx="114300" cy="102870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34BF448-0DB7-4093-962B-12F5F32B90F2}"/>
              </a:ext>
            </a:extLst>
          </p:cNvPr>
          <p:cNvSpPr>
            <a:spLocks xmlns:a="http://schemas.openxmlformats.org/drawingml/2006/main" noGrp="1"/>
          </p:cNvSpPr>
          <p:nvPr/>
        </p:nvSpPr>
        <p:spPr>
          <a:xfrm xmlns:a="http://schemas.openxmlformats.org/drawingml/2006/main">
            <a:off x="3181350" y="1104900"/>
            <a:ext cx="118110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5305392-E132-47B1-AB1E-B4A1F10A604B}"/>
              </a:ext>
            </a:extLst>
          </p:cNvPr>
          <p:cNvSpPr>
            <a:spLocks xmlns:a="http://schemas.openxmlformats.org/drawingml/2006/main" noGrp="1"/>
          </p:cNvSpPr>
          <p:nvPr/>
        </p:nvSpPr>
        <p:spPr>
          <a:xfrm xmlns:a="http://schemas.openxmlformats.org/drawingml/2006/main">
            <a:off x="3181350" y="8763000"/>
            <a:ext cx="135255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a732df049c14fac"/>
          <a:stretch xmlns:a="http://schemas.openxmlformats.org/drawingml/2006/main"/>
        </p:blipFill>
        <p:spPr>
          <a:xfrm xmlns:a="http://schemas.openxmlformats.org/drawingml/2006/main">
            <a:off x="552450" y="552450"/>
            <a:ext cx="1524000" cy="1524000"/>
          </a:xfrm>
          <a:prstGeom xmlns:a="http://schemas.openxmlformats.org/drawingml/2006/main" prst="rect">
            <a:avLst/>
          </a:prstGeom>
        </p:spPr>
      </p:pic>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c7c9ad4b8ce459f"/>
          <a:stretch xmlns:a="http://schemas.openxmlformats.org/drawingml/2006/main"/>
        </p:blipFill>
        <p:spPr>
          <a:xfrm xmlns:a="http://schemas.openxmlformats.org/drawingml/2006/main">
            <a:off x="498941" y="7810500"/>
            <a:ext cx="1631019" cy="16383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16E932F-CA80-4019-A16F-2EA604495AE1}"/>
              </a:ext>
            </a:extLst>
          </p:cNvPr>
          <p:cNvSpPr>
            <a:spLocks xmlns:a="http://schemas.openxmlformats.org/drawingml/2006/main" noGrp="1"/>
          </p:cNvSpPr>
          <p:nvPr/>
        </p:nvSpPr>
        <p:spPr>
          <a:xfrm xmlns:a="http://schemas.openxmlformats.org/drawingml/2006/main">
            <a:off x="3181350" y="685800"/>
            <a:ext cx="4000500" cy="3429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200" b="1">
                <a:solidFill>
                  <a:srgbClr val="8A2B34"/>
                </a:solidFill>
                <a:latin typeface="Trebuchet MS"/>
                <a:ea typeface="Trebuchet MS"/>
                <a:cs typeface="Trebuchet MS"/>
              </a:defRPr>
            </a:pPr>
            <a:r>
              <a:t>MAJOR PROJECT PRESENTATION</a:t>
            </a:r>
          </a:p>
        </p:txBody>
      </p:sp>
      <p:sp>
        <p:nvSpPr>
          <p:cNvPr id="8" name="">
            <a:extLst xmlns:a="http://schemas.openxmlformats.org/drawingml/2006/main">
              <a:ext uri="{FF2B5EF4-FFF2-40B4-BE49-F238E27FC236}">
                <a16:creationId xmlns:a16="http://schemas.microsoft.com/office/drawing/2014/main" id="{5DA81BF7-8A3D-4687-9CC2-1D21C1C8A9DC}"/>
              </a:ext>
            </a:extLst>
          </p:cNvPr>
          <p:cNvSpPr>
            <a:spLocks xmlns:a="http://schemas.openxmlformats.org/drawingml/2006/main" noGrp="1"/>
          </p:cNvSpPr>
          <p:nvPr/>
        </p:nvSpPr>
        <p:spPr>
          <a:xfrm xmlns:a="http://schemas.openxmlformats.org/drawingml/2006/main">
            <a:off x="3181350" y="1333500"/>
            <a:ext cx="9334500" cy="8572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4050" b="1">
                <a:solidFill>
                  <a:srgbClr val="1F3061"/>
                </a:solidFill>
                <a:latin typeface="Cambria"/>
                <a:ea typeface="Cambria"/>
                <a:cs typeface="Cambria"/>
              </a:defRPr>
            </a:pPr>
            <a:r>
              <a:t>GRADPATH</a:t>
            </a:r>
          </a:p>
        </p:txBody>
      </p:sp>
      <p:sp>
        <p:nvSpPr>
          <p:cNvPr id="9" name="">
            <a:extLst xmlns:a="http://schemas.openxmlformats.org/drawingml/2006/main">
              <a:ext uri="{FF2B5EF4-FFF2-40B4-BE49-F238E27FC236}">
                <a16:creationId xmlns:a16="http://schemas.microsoft.com/office/drawing/2014/main" id="{2F281563-2F05-4816-99B5-1E6FA14005E5}"/>
              </a:ext>
            </a:extLst>
          </p:cNvPr>
          <p:cNvSpPr>
            <a:spLocks xmlns:a="http://schemas.openxmlformats.org/drawingml/2006/main" noGrp="1"/>
          </p:cNvSpPr>
          <p:nvPr/>
        </p:nvSpPr>
        <p:spPr>
          <a:xfrm xmlns:a="http://schemas.openxmlformats.org/drawingml/2006/main">
            <a:off x="3181350" y="2305050"/>
            <a:ext cx="9334500" cy="5715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00" b="1">
                <a:solidFill>
                  <a:srgbClr val="8A2B34"/>
                </a:solidFill>
                <a:latin typeface="Trebuchet MS"/>
                <a:ea typeface="Trebuchet MS"/>
                <a:cs typeface="Trebuchet MS"/>
              </a:defRPr>
            </a:pPr>
            <a:r>
              <a:t>An Intelligent Academic Command Center for BCA Students</a:t>
            </a:r>
          </a:p>
        </p:txBody>
      </p:sp>
      <p:sp>
        <p:nvSpPr>
          <p:cNvPr id="10" name="">
            <a:extLst xmlns:a="http://schemas.openxmlformats.org/drawingml/2006/main">
              <a:ext uri="{FF2B5EF4-FFF2-40B4-BE49-F238E27FC236}">
                <a16:creationId xmlns:a16="http://schemas.microsoft.com/office/drawing/2014/main" id="{A7FA8E95-D842-4934-8901-404C1056705C}"/>
              </a:ext>
            </a:extLst>
          </p:cNvPr>
          <p:cNvSpPr>
            <a:spLocks xmlns:a="http://schemas.openxmlformats.org/drawingml/2006/main" noGrp="1"/>
          </p:cNvSpPr>
          <p:nvPr/>
        </p:nvSpPr>
        <p:spPr>
          <a:xfrm xmlns:a="http://schemas.openxmlformats.org/drawingml/2006/main">
            <a:off x="3181350" y="2990850"/>
            <a:ext cx="11239500" cy="6858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500">
                <a:solidFill>
                  <a:srgbClr val="334155"/>
                </a:solidFill>
                <a:latin typeface="Trebuchet MS"/>
                <a:ea typeface="Trebuchet MS"/>
                <a:cs typeface="Trebuchet MS"/>
              </a:defRPr>
            </a:pPr>
            <a:r>
              <a:t>Bachelor of Computer Applications | Session 2025-26 | BCA 6th Semester</a:t>
            </a:r>
          </a:p>
        </p:txBody>
      </p:sp>
      <p:sp>
        <p:nvSpPr>
          <p:cNvPr id="11" name="">
            <a:extLst xmlns:a="http://schemas.openxmlformats.org/drawingml/2006/main">
              <a:ext uri="{FF2B5EF4-FFF2-40B4-BE49-F238E27FC236}">
                <a16:creationId xmlns:a16="http://schemas.microsoft.com/office/drawing/2014/main" id="{FC27E296-5833-482C-B171-FB14894A5955}"/>
              </a:ext>
            </a:extLst>
          </p:cNvPr>
          <p:cNvSpPr>
            <a:spLocks xmlns:a="http://schemas.openxmlformats.org/drawingml/2006/main" noGrp="1"/>
          </p:cNvSpPr>
          <p:nvPr/>
        </p:nvSpPr>
        <p:spPr>
          <a:xfrm xmlns:a="http://schemas.openxmlformats.org/drawingml/2006/main">
            <a:off x="3181350" y="3981450"/>
            <a:ext cx="11620500" cy="8953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b="1">
                <a:solidFill>
                  <a:srgbClr val="101828"/>
                </a:solidFill>
                <a:latin typeface="Trebuchet MS"/>
                <a:ea typeface="Trebuchet MS"/>
                <a:cs typeface="Trebuchet MS"/>
              </a:defRPr>
            </a:pPr>
            <a:r>
              <a:t>Kailash Institute of Management, GIDA, Gorakhpur</a:t>
            </a:r>
          </a:p>
          <a:p xmlns:a="http://schemas.openxmlformats.org/drawingml/2006/main">
            <a:pPr>
              <a:defRPr sz="1650" b="1">
                <a:solidFill>
                  <a:srgbClr val="101828"/>
                </a:solidFill>
                <a:latin typeface="Trebuchet MS"/>
                <a:ea typeface="Trebuchet MS"/>
                <a:cs typeface="Trebuchet MS"/>
              </a:defRPr>
            </a:pPr>
            <a:r>
              <a:t>Affiliated to Deen Dayal Upadhyaya Gorakhpur University, Gorakhpur</a:t>
            </a:r>
          </a:p>
        </p:txBody>
      </p:sp>
      <p:sp>
        <p:nvSpPr>
          <p:cNvPr id="12" name="">
            <a:extLst xmlns:a="http://schemas.openxmlformats.org/drawingml/2006/main">
              <a:ext uri="{FF2B5EF4-FFF2-40B4-BE49-F238E27FC236}">
                <a16:creationId xmlns:a16="http://schemas.microsoft.com/office/drawing/2014/main" id="{E976ACB4-B51D-40C9-A883-B33058E73A09}"/>
              </a:ext>
            </a:extLst>
          </p:cNvPr>
          <p:cNvSpPr>
            <a:spLocks xmlns:a="http://schemas.openxmlformats.org/drawingml/2006/main" noGrp="1"/>
          </p:cNvSpPr>
          <p:nvPr/>
        </p:nvSpPr>
        <p:spPr>
          <a:xfrm xmlns:a="http://schemas.openxmlformats.org/drawingml/2006/main">
            <a:off x="3181350" y="5181600"/>
            <a:ext cx="2019300" cy="381000"/>
          </a:xfrm>
          <a:prstGeom xmlns:a="http://schemas.openxmlformats.org/drawingml/2006/main" prst="roundRect">
            <a:avLst>
              <a:gd name="adj" fmla="val 20000"/>
            </a:avLst>
          </a:prstGeom>
          <a:solidFill xmlns:a="http://schemas.openxmlformats.org/drawingml/2006/main">
            <a:srgbClr val="E8EE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Submitted By</a:t>
            </a:r>
          </a:p>
        </p:txBody>
      </p:sp>
      <p:sp>
        <p:nvSpPr>
          <p:cNvPr id="13" name="">
            <a:extLst xmlns:a="http://schemas.openxmlformats.org/drawingml/2006/main">
              <a:ext uri="{FF2B5EF4-FFF2-40B4-BE49-F238E27FC236}">
                <a16:creationId xmlns:a16="http://schemas.microsoft.com/office/drawing/2014/main" id="{FF423434-6A25-49A7-AC35-1F81D15B5729}"/>
              </a:ext>
            </a:extLst>
          </p:cNvPr>
          <p:cNvSpPr>
            <a:spLocks xmlns:a="http://schemas.openxmlformats.org/drawingml/2006/main" noGrp="1"/>
          </p:cNvSpPr>
          <p:nvPr/>
        </p:nvSpPr>
        <p:spPr>
          <a:xfrm xmlns:a="http://schemas.openxmlformats.org/drawingml/2006/main">
            <a:off x="3181350" y="5676900"/>
            <a:ext cx="5905500" cy="22098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Mohammad Afsar  |  Roll No. 2614058580039</a:t>
            </a:r>
          </a:p>
          <a:p xmlns:a="http://schemas.openxmlformats.org/drawingml/2006/main">
            <a:pPr>
              <a:defRPr sz="1650">
                <a:solidFill>
                  <a:srgbClr val="334155"/>
                </a:solidFill>
                <a:latin typeface="Trebuchet MS"/>
                <a:ea typeface="Trebuchet MS"/>
                <a:cs typeface="Trebuchet MS"/>
              </a:defRPr>
            </a:pPr>
            <a:r>
              <a:t>Ravi  |  Roll No. 2614058580045</a:t>
            </a:r>
          </a:p>
          <a:p xmlns:a="http://schemas.openxmlformats.org/drawingml/2006/main">
            <a:pPr>
              <a:defRPr sz="1650">
                <a:solidFill>
                  <a:srgbClr val="334155"/>
                </a:solidFill>
                <a:latin typeface="Trebuchet MS"/>
                <a:ea typeface="Trebuchet MS"/>
                <a:cs typeface="Trebuchet MS"/>
              </a:defRPr>
            </a:pPr>
            <a:r>
              <a:t>Gaurav Yadav  |  Roll No. 2614058580030</a:t>
            </a:r>
          </a:p>
          <a:p xmlns:a="http://schemas.openxmlformats.org/drawingml/2006/main">
            <a:pPr>
              <a:defRPr sz="1650">
                <a:solidFill>
                  <a:srgbClr val="334155"/>
                </a:solidFill>
                <a:latin typeface="Trebuchet MS"/>
                <a:ea typeface="Trebuchet MS"/>
                <a:cs typeface="Trebuchet MS"/>
              </a:defRPr>
            </a:pPr>
            <a:r>
              <a:t>Priyanshi  |  Roll No. 2614058580042</a:t>
            </a:r>
          </a:p>
        </p:txBody>
      </p:sp>
      <p:sp>
        <p:nvSpPr>
          <p:cNvPr id="14" name="">
            <a:extLst xmlns:a="http://schemas.openxmlformats.org/drawingml/2006/main">
              <a:ext uri="{FF2B5EF4-FFF2-40B4-BE49-F238E27FC236}">
                <a16:creationId xmlns:a16="http://schemas.microsoft.com/office/drawing/2014/main" id="{6623C102-F24D-4E68-946A-D0889FA2F40E}"/>
              </a:ext>
            </a:extLst>
          </p:cNvPr>
          <p:cNvSpPr>
            <a:spLocks xmlns:a="http://schemas.openxmlformats.org/drawingml/2006/main" noGrp="1"/>
          </p:cNvSpPr>
          <p:nvPr/>
        </p:nvSpPr>
        <p:spPr>
          <a:xfrm xmlns:a="http://schemas.openxmlformats.org/drawingml/2006/main">
            <a:off x="10058400" y="5181600"/>
            <a:ext cx="2095500" cy="381000"/>
          </a:xfrm>
          <a:prstGeom xmlns:a="http://schemas.openxmlformats.org/drawingml/2006/main" prst="roundRect">
            <a:avLst>
              <a:gd name="adj" fmla="val 20000"/>
            </a:avLst>
          </a:prstGeom>
          <a:solidFill xmlns:a="http://schemas.openxmlformats.org/drawingml/2006/main">
            <a:srgbClr val="E8EE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Submitted To</a:t>
            </a:r>
          </a:p>
        </p:txBody>
      </p:sp>
      <p:sp>
        <p:nvSpPr>
          <p:cNvPr id="15" name="">
            <a:extLst xmlns:a="http://schemas.openxmlformats.org/drawingml/2006/main">
              <a:ext uri="{FF2B5EF4-FFF2-40B4-BE49-F238E27FC236}">
                <a16:creationId xmlns:a16="http://schemas.microsoft.com/office/drawing/2014/main" id="{94C73E88-82E4-4289-BC8A-D647CBF45541}"/>
              </a:ext>
            </a:extLst>
          </p:cNvPr>
          <p:cNvSpPr>
            <a:spLocks xmlns:a="http://schemas.openxmlformats.org/drawingml/2006/main" noGrp="1"/>
          </p:cNvSpPr>
          <p:nvPr/>
        </p:nvSpPr>
        <p:spPr>
          <a:xfrm xmlns:a="http://schemas.openxmlformats.org/drawingml/2006/main">
            <a:off x="10058400" y="5676900"/>
            <a:ext cx="5334000" cy="16002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00" b="1">
                <a:solidFill>
                  <a:srgbClr val="101828"/>
                </a:solidFill>
                <a:latin typeface="Trebuchet MS"/>
                <a:ea typeface="Trebuchet MS"/>
                <a:cs typeface="Trebuchet MS"/>
              </a:defRPr>
            </a:pPr>
            <a:r>
              <a:t>Shivanshu Shahi</a:t>
            </a:r>
          </a:p>
          <a:p xmlns:a="http://schemas.openxmlformats.org/drawingml/2006/main">
            <a:pPr>
              <a:defRPr sz="1800" b="1">
                <a:solidFill>
                  <a:srgbClr val="101828"/>
                </a:solidFill>
                <a:latin typeface="Trebuchet MS"/>
                <a:ea typeface="Trebuchet MS"/>
                <a:cs typeface="Trebuchet MS"/>
              </a:defRPr>
            </a:pPr>
            <a:r>
              <a:t>Project Guide</a:t>
            </a:r>
          </a:p>
          <a:p xmlns:a="http://schemas.openxmlformats.org/drawingml/2006/main">
            <a:pPr>
              <a:defRPr sz="1800" b="1">
                <a:solidFill>
                  <a:srgbClr val="101828"/>
                </a:solidFill>
                <a:latin typeface="Trebuchet MS"/>
                <a:ea typeface="Trebuchet MS"/>
                <a:cs typeface="Trebuchet MS"/>
              </a:defRPr>
            </a:pPr>
            <a:r>
              <a:t>Department of Computer Application</a:t>
            </a:r>
          </a:p>
        </p:txBody>
      </p:sp>
      <p:sp>
        <p:nvSpPr>
          <p:cNvPr id="16" name="">
            <a:extLst xmlns:a="http://schemas.openxmlformats.org/drawingml/2006/main">
              <a:ext uri="{FF2B5EF4-FFF2-40B4-BE49-F238E27FC236}">
                <a16:creationId xmlns:a16="http://schemas.microsoft.com/office/drawing/2014/main" id="{8BB8169D-951E-4B5D-9C91-FB61F01FC1FD}"/>
              </a:ext>
            </a:extLst>
          </p:cNvPr>
          <p:cNvSpPr>
            <a:spLocks xmlns:a="http://schemas.openxmlformats.org/drawingml/2006/main" noGrp="1"/>
          </p:cNvSpPr>
          <p:nvPr/>
        </p:nvSpPr>
        <p:spPr>
          <a:xfrm xmlns:a="http://schemas.openxmlformats.org/drawingml/2006/main">
            <a:off x="3181350" y="8991600"/>
            <a:ext cx="8763000" cy="3238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125">
                <a:solidFill>
                  <a:srgbClr val="667085"/>
                </a:solidFill>
                <a:latin typeface="Trebuchet MS"/>
                <a:ea typeface="Trebuchet MS"/>
                <a:cs typeface="Trebuchet MS"/>
              </a:defRPr>
            </a:pPr>
            <a:r>
              <a:t>GradPath major project report presentation</a:t>
            </a:r>
          </a:p>
        </p:txBody>
      </p:sp>
    </p:spTree>
    <p:extLst>
      <p:ext uri="{BB962C8B-B14F-4D97-AF65-F5344CB8AC3E}">
        <p14:creationId xmlns:p14="http://schemas.microsoft.com/office/powerpoint/2010/main" val="69230901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D71D7C-AFFA-437A-AB38-76CF2D8FD818}"/>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B0FC38-BA4F-467B-9679-357C4464E3DD}"/>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Project Overview</a:t>
            </a:r>
          </a:p>
        </p:txBody>
      </p:sp>
      <p:sp>
        <p:nvSpPr>
          <p:cNvPr id="3" name="">
            <a:extLst xmlns:a="http://schemas.openxmlformats.org/drawingml/2006/main">
              <a:ext uri="{FF2B5EF4-FFF2-40B4-BE49-F238E27FC236}">
                <a16:creationId xmlns:a16="http://schemas.microsoft.com/office/drawing/2014/main" id="{73FF5163-4050-45D3-825F-6C9BEC6F5696}"/>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B82B9A-F660-4B03-B081-A8F64DF595D7}"/>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950BA301-C415-45D0-A1C9-D6E1FE0D8DEA}"/>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2/20</a:t>
            </a:r>
          </a:p>
        </p:txBody>
      </p:sp>
      <p:sp>
        <p:nvSpPr>
          <p:cNvPr id="6" name="">
            <a:extLst xmlns:a="http://schemas.openxmlformats.org/drawingml/2006/main">
              <a:ext uri="{FF2B5EF4-FFF2-40B4-BE49-F238E27FC236}">
                <a16:creationId xmlns:a16="http://schemas.microsoft.com/office/drawing/2014/main" id="{A0A8F987-EA1F-4C3C-999B-19AE7CF3103C}"/>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Introduction</a:t>
            </a:r>
          </a:p>
        </p:txBody>
      </p:sp>
      <p:sp>
        <p:nvSpPr>
          <p:cNvPr id="7" name="">
            <a:extLst xmlns:a="http://schemas.openxmlformats.org/drawingml/2006/main">
              <a:ext uri="{FF2B5EF4-FFF2-40B4-BE49-F238E27FC236}">
                <a16:creationId xmlns:a16="http://schemas.microsoft.com/office/drawing/2014/main" id="{C3C86779-AA3A-4633-BF3B-D96A07DEE4BB}"/>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FC5B5E6-10F2-4A49-88BA-9B6ACE9D7447}"/>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GradPath is a full-stack academic management and study-support platform developed to keep the BCA student workflow in one place.</a:t>
            </a:r>
          </a:p>
        </p:txBody>
      </p:sp>
      <p:sp>
        <p:nvSpPr>
          <p:cNvPr id="9" name="">
            <a:extLst xmlns:a="http://schemas.openxmlformats.org/drawingml/2006/main">
              <a:ext uri="{FF2B5EF4-FFF2-40B4-BE49-F238E27FC236}">
                <a16:creationId xmlns:a16="http://schemas.microsoft.com/office/drawing/2014/main" id="{59481C4A-AFE7-44FE-BEC7-4575BF1D9350}"/>
              </a:ext>
            </a:extLst>
          </p:cNvPr>
          <p:cNvSpPr>
            <a:spLocks xmlns:a="http://schemas.openxmlformats.org/drawingml/2006/main" noGrp="1"/>
          </p:cNvSpPr>
          <p:nvPr/>
        </p:nvSpPr>
        <p:spPr>
          <a:xfrm xmlns:a="http://schemas.openxmlformats.org/drawingml/2006/main">
            <a:off x="800100" y="2571750"/>
            <a:ext cx="6953250" cy="1809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950">
                <a:solidFill>
                  <a:srgbClr val="101828"/>
                </a:solidFill>
                <a:latin typeface="Trebuchet MS"/>
                <a:ea typeface="Trebuchet MS"/>
                <a:cs typeface="Trebuchet MS"/>
              </a:defRPr>
            </a:pPr>
            <a:r>
              <a:t>It connects semester subjects, unit progress, assignments, study resources, previous-year questions, AI tutoring, practice tools, and result planning in one authenticated workspace.</a:t>
            </a:r>
          </a:p>
        </p:txBody>
      </p:sp>
      <p:sp>
        <p:nvSpPr>
          <p:cNvPr id="10" name="">
            <a:extLst xmlns:a="http://schemas.openxmlformats.org/drawingml/2006/main">
              <a:ext uri="{FF2B5EF4-FFF2-40B4-BE49-F238E27FC236}">
                <a16:creationId xmlns:a16="http://schemas.microsoft.com/office/drawing/2014/main" id="{76C7EB31-AA8E-499B-8ECC-951A191F95A0}"/>
              </a:ext>
            </a:extLst>
          </p:cNvPr>
          <p:cNvSpPr>
            <a:spLocks xmlns:a="http://schemas.openxmlformats.org/drawingml/2006/main" noGrp="1"/>
          </p:cNvSpPr>
          <p:nvPr/>
        </p:nvSpPr>
        <p:spPr>
          <a:xfrm xmlns:a="http://schemas.openxmlformats.org/drawingml/2006/main">
            <a:off x="800100" y="4762500"/>
            <a:ext cx="6667500" cy="26670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 Student dashboard for progress, assignments, and quick actions</a:t>
            </a:r>
          </a:p>
          <a:p xmlns:a="http://schemas.openxmlformats.org/drawingml/2006/main">
            <a:pPr>
              <a:defRPr sz="1650">
                <a:solidFill>
                  <a:srgbClr val="334155"/>
                </a:solidFill>
                <a:latin typeface="Trebuchet MS"/>
                <a:ea typeface="Trebuchet MS"/>
                <a:cs typeface="Trebuchet MS"/>
              </a:defRPr>
            </a:pPr>
            <a:r>
              <a:t>- Curated study material, PYQs, quizzes, flashcards, and model papers</a:t>
            </a:r>
          </a:p>
          <a:p xmlns:a="http://schemas.openxmlformats.org/drawingml/2006/main">
            <a:pPr>
              <a:defRPr sz="1650">
                <a:solidFill>
                  <a:srgbClr val="334155"/>
                </a:solidFill>
                <a:latin typeface="Trebuchet MS"/>
                <a:ea typeface="Trebuchet MS"/>
                <a:cs typeface="Trebuchet MS"/>
              </a:defRPr>
            </a:pPr>
            <a:r>
              <a:t>- Role-based access for students and admins with secure authentication</a:t>
            </a:r>
          </a:p>
        </p:txBody>
      </p:sp>
      <p:sp>
        <p:nvSpPr>
          <p:cNvPr id="11" name="">
            <a:extLst xmlns:a="http://schemas.openxmlformats.org/drawingml/2006/main">
              <a:ext uri="{FF2B5EF4-FFF2-40B4-BE49-F238E27FC236}">
                <a16:creationId xmlns:a16="http://schemas.microsoft.com/office/drawing/2014/main" id="{6AB8A3EA-2910-4B9C-BDD2-EFCDCA1585F3}"/>
              </a:ext>
            </a:extLst>
          </p:cNvPr>
          <p:cNvSpPr>
            <a:spLocks xmlns:a="http://schemas.openxmlformats.org/drawingml/2006/main" noGrp="1"/>
          </p:cNvSpPr>
          <p:nvPr/>
        </p:nvSpPr>
        <p:spPr>
          <a:xfrm xmlns:a="http://schemas.openxmlformats.org/drawingml/2006/main">
            <a:off x="8382000" y="2324100"/>
            <a:ext cx="9144000" cy="6172200"/>
          </a:xfrm>
          <a:prstGeom xmlns:a="http://schemas.openxmlformats.org/drawingml/2006/main" prst="roundRect">
            <a:avLst>
              <a:gd name="adj" fmla="val 1235"/>
            </a:avLst>
          </a:prstGeom>
          <a:solidFill xmlns:a="http://schemas.openxmlformats.org/drawingml/2006/main">
            <a:srgbClr val="FFFFFF"/>
          </a:solidFill>
          <a:ln xmlns:a="http://schemas.openxmlformats.org/drawingml/2006/main" w="9525">
            <a:solidFill>
              <a:srgbClr val="D8D2C8"/>
            </a:solid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e4e82407e894e21"/>
          <a:stretch xmlns:a="http://schemas.openxmlformats.org/drawingml/2006/main"/>
        </p:blipFill>
        <p:spPr>
          <a:xfrm xmlns:a="http://schemas.openxmlformats.org/drawingml/2006/main">
            <a:off x="8686800" y="3140583"/>
            <a:ext cx="8534400" cy="4539234"/>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C2285FB-62F4-4BAC-9DFC-B436F25D333A}"/>
              </a:ext>
            </a:extLst>
          </p:cNvPr>
          <p:cNvSpPr>
            <a:spLocks xmlns:a="http://schemas.openxmlformats.org/drawingml/2006/main" noGrp="1"/>
          </p:cNvSpPr>
          <p:nvPr/>
        </p:nvSpPr>
        <p:spPr>
          <a:xfrm xmlns:a="http://schemas.openxmlformats.org/drawingml/2006/main">
            <a:off x="8915400" y="2819400"/>
            <a:ext cx="1657350" cy="323850"/>
          </a:xfrm>
          <a:prstGeom xmlns:a="http://schemas.openxmlformats.org/drawingml/2006/main" prst="roundRect">
            <a:avLst>
              <a:gd name="adj" fmla="val 23529"/>
            </a:avLst>
          </a:prstGeom>
          <a:solidFill xmlns:a="http://schemas.openxmlformats.org/drawingml/2006/main">
            <a:srgbClr val="E8F0E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Student Dashboard</a:t>
            </a:r>
          </a:p>
        </p:txBody>
      </p:sp>
    </p:spTree>
    <p:extLst>
      <p:ext uri="{BB962C8B-B14F-4D97-AF65-F5344CB8AC3E}">
        <p14:creationId xmlns:p14="http://schemas.microsoft.com/office/powerpoint/2010/main" val="137116065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EA635A-658E-4F0F-AC93-616EF010AAF4}"/>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B40DEE-CE1E-432B-923A-9C8F1091DEE8}"/>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Need Analysis</a:t>
            </a:r>
          </a:p>
        </p:txBody>
      </p:sp>
      <p:sp>
        <p:nvSpPr>
          <p:cNvPr id="3" name="">
            <a:extLst xmlns:a="http://schemas.openxmlformats.org/drawingml/2006/main">
              <a:ext uri="{FF2B5EF4-FFF2-40B4-BE49-F238E27FC236}">
                <a16:creationId xmlns:a16="http://schemas.microsoft.com/office/drawing/2014/main" id="{69CEEA59-24A4-403F-B985-AB470238AF42}"/>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1FE5D2-8E1F-4C18-A0DE-AB083CAB9AC2}"/>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E111B7FB-1990-4343-931E-5059602A142B}"/>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3/20</a:t>
            </a:r>
          </a:p>
        </p:txBody>
      </p:sp>
      <p:sp>
        <p:nvSpPr>
          <p:cNvPr id="6" name="">
            <a:extLst xmlns:a="http://schemas.openxmlformats.org/drawingml/2006/main">
              <a:ext uri="{FF2B5EF4-FFF2-40B4-BE49-F238E27FC236}">
                <a16:creationId xmlns:a16="http://schemas.microsoft.com/office/drawing/2014/main" id="{EB0DD2C9-77EA-42A2-9775-7B68CFA230BC}"/>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Problem Statement</a:t>
            </a:r>
          </a:p>
        </p:txBody>
      </p:sp>
      <p:sp>
        <p:nvSpPr>
          <p:cNvPr id="7" name="">
            <a:extLst xmlns:a="http://schemas.openxmlformats.org/drawingml/2006/main">
              <a:ext uri="{FF2B5EF4-FFF2-40B4-BE49-F238E27FC236}">
                <a16:creationId xmlns:a16="http://schemas.microsoft.com/office/drawing/2014/main" id="{FE0C42FD-382B-4672-BA35-68A9738F004E}"/>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F39B25-3FB5-4D9E-A2AD-7D4A2317CDC0}"/>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current academic workflow is fragmented, manual, and difficult to track during the semester and before examinations.</a:t>
            </a:r>
          </a:p>
        </p:txBody>
      </p:sp>
      <p:sp>
        <p:nvSpPr>
          <p:cNvPr id="9" name="">
            <a:extLst xmlns:a="http://schemas.openxmlformats.org/drawingml/2006/main">
              <a:ext uri="{FF2B5EF4-FFF2-40B4-BE49-F238E27FC236}">
                <a16:creationId xmlns:a16="http://schemas.microsoft.com/office/drawing/2014/main" id="{0DBD87F4-25FA-433A-BC75-75C5940034C9}"/>
              </a:ext>
            </a:extLst>
          </p:cNvPr>
          <p:cNvSpPr>
            <a:spLocks xmlns:a="http://schemas.openxmlformats.org/drawingml/2006/main" noGrp="1"/>
          </p:cNvSpPr>
          <p:nvPr/>
        </p:nvSpPr>
        <p:spPr>
          <a:xfrm xmlns:a="http://schemas.openxmlformats.org/drawingml/2006/main">
            <a:off x="800100" y="2724150"/>
            <a:ext cx="6858000" cy="23812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100">
                <a:solidFill>
                  <a:srgbClr val="101828"/>
                </a:solidFill>
                <a:latin typeface="Trebuchet MS"/>
                <a:ea typeface="Trebuchet MS"/>
                <a:cs typeface="Trebuchet MS"/>
              </a:defRPr>
            </a:pPr>
            <a:r>
              <a:t>BCA students often depend on notebooks, PDF folders, classroom reminders, messaging groups, and university websites at the same time. That scattered flow reduces study efficiency and weakens revision planning.</a:t>
            </a:r>
          </a:p>
        </p:txBody>
      </p:sp>
      <p:sp>
        <p:nvSpPr>
          <p:cNvPr id="10" name="">
            <a:extLst xmlns:a="http://schemas.openxmlformats.org/drawingml/2006/main">
              <a:ext uri="{FF2B5EF4-FFF2-40B4-BE49-F238E27FC236}">
                <a16:creationId xmlns:a16="http://schemas.microsoft.com/office/drawing/2014/main" id="{6A5197E0-8920-45E9-81CC-BD9D03A81C3B}"/>
              </a:ext>
            </a:extLst>
          </p:cNvPr>
          <p:cNvSpPr>
            <a:spLocks xmlns:a="http://schemas.openxmlformats.org/drawingml/2006/main" noGrp="1"/>
          </p:cNvSpPr>
          <p:nvPr/>
        </p:nvSpPr>
        <p:spPr>
          <a:xfrm xmlns:a="http://schemas.openxmlformats.org/drawingml/2006/main">
            <a:off x="8667750" y="2381250"/>
            <a:ext cx="8839200" cy="5581650"/>
          </a:xfrm>
          <a:prstGeom xmlns:a="http://schemas.openxmlformats.org/drawingml/2006/main" prst="roundRect">
            <a:avLst>
              <a:gd name="adj" fmla="val 1365"/>
            </a:avLst>
          </a:prstGeom>
          <a:solidFill xmlns:a="http://schemas.openxmlformats.org/drawingml/2006/main">
            <a:srgbClr val="FFFFFF"/>
          </a:solidFill>
          <a:ln xmlns:a="http://schemas.openxmlformats.org/drawingml/2006/main" w="9525">
            <a:solidFill>
              <a:srgbClr val="D8D2C8"/>
            </a:solidFill>
          </a:ln>
        </p:spPr>
      </p:sp>
      <p:sp>
        <p:nvSpPr>
          <p:cNvPr id="11" name="">
            <a:extLst xmlns:a="http://schemas.openxmlformats.org/drawingml/2006/main">
              <a:ext uri="{FF2B5EF4-FFF2-40B4-BE49-F238E27FC236}">
                <a16:creationId xmlns:a16="http://schemas.microsoft.com/office/drawing/2014/main" id="{41EE3EE1-639B-4E74-8030-D2F9395EBE87}"/>
              </a:ext>
            </a:extLst>
          </p:cNvPr>
          <p:cNvSpPr>
            <a:spLocks xmlns:a="http://schemas.openxmlformats.org/drawingml/2006/main" noGrp="1"/>
          </p:cNvSpPr>
          <p:nvPr/>
        </p:nvSpPr>
        <p:spPr>
          <a:xfrm xmlns:a="http://schemas.openxmlformats.org/drawingml/2006/main">
            <a:off x="9010650" y="2724150"/>
            <a:ext cx="2381250" cy="323850"/>
          </a:xfrm>
          <a:prstGeom xmlns:a="http://schemas.openxmlformats.org/drawingml/2006/main" prst="roundRect">
            <a:avLst>
              <a:gd name="adj" fmla="val 23529"/>
            </a:avLst>
          </a:prstGeom>
          <a:solidFill xmlns:a="http://schemas.openxmlformats.org/drawingml/2006/main">
            <a:srgbClr val="E8EE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Key Pain Points</a:t>
            </a:r>
          </a:p>
        </p:txBody>
      </p:sp>
      <p:sp>
        <p:nvSpPr>
          <p:cNvPr id="12" name="">
            <a:extLst xmlns:a="http://schemas.openxmlformats.org/drawingml/2006/main">
              <a:ext uri="{FF2B5EF4-FFF2-40B4-BE49-F238E27FC236}">
                <a16:creationId xmlns:a16="http://schemas.microsoft.com/office/drawing/2014/main" id="{A9330998-D28D-42E1-941D-11CDFD38B931}"/>
              </a:ext>
            </a:extLst>
          </p:cNvPr>
          <p:cNvSpPr>
            <a:spLocks xmlns:a="http://schemas.openxmlformats.org/drawingml/2006/main" noGrp="1"/>
          </p:cNvSpPr>
          <p:nvPr/>
        </p:nvSpPr>
        <p:spPr>
          <a:xfrm xmlns:a="http://schemas.openxmlformats.org/drawingml/2006/main">
            <a:off x="9029700" y="3276600"/>
            <a:ext cx="95250" cy="62865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676DB02-0C63-4F45-8239-68D9B50C3097}"/>
              </a:ext>
            </a:extLst>
          </p:cNvPr>
          <p:cNvSpPr>
            <a:spLocks xmlns:a="http://schemas.openxmlformats.org/drawingml/2006/main" noGrp="1"/>
          </p:cNvSpPr>
          <p:nvPr/>
        </p:nvSpPr>
        <p:spPr>
          <a:xfrm xmlns:a="http://schemas.openxmlformats.org/drawingml/2006/main">
            <a:off x="9296400" y="3219450"/>
            <a:ext cx="7772400" cy="8001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00">
                <a:solidFill>
                  <a:srgbClr val="334155"/>
                </a:solidFill>
                <a:latin typeface="Trebuchet MS"/>
                <a:ea typeface="Trebuchet MS"/>
                <a:cs typeface="Trebuchet MS"/>
              </a:defRPr>
            </a:pPr>
            <a:r>
              <a:t>Scattered study material causes time loss and low productivity.</a:t>
            </a:r>
          </a:p>
        </p:txBody>
      </p:sp>
      <p:sp>
        <p:nvSpPr>
          <p:cNvPr id="14" name="">
            <a:extLst xmlns:a="http://schemas.openxmlformats.org/drawingml/2006/main">
              <a:ext uri="{FF2B5EF4-FFF2-40B4-BE49-F238E27FC236}">
                <a16:creationId xmlns:a16="http://schemas.microsoft.com/office/drawing/2014/main" id="{14AF01C6-A775-46C4-9F53-D425CD6F52FF}"/>
              </a:ext>
            </a:extLst>
          </p:cNvPr>
          <p:cNvSpPr>
            <a:spLocks xmlns:a="http://schemas.openxmlformats.org/drawingml/2006/main" noGrp="1"/>
          </p:cNvSpPr>
          <p:nvPr/>
        </p:nvSpPr>
        <p:spPr>
          <a:xfrm xmlns:a="http://schemas.openxmlformats.org/drawingml/2006/main">
            <a:off x="9029700" y="4400550"/>
            <a:ext cx="95250" cy="62865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87C1437-0665-4870-BAB8-7690CFF0EAD1}"/>
              </a:ext>
            </a:extLst>
          </p:cNvPr>
          <p:cNvSpPr>
            <a:spLocks xmlns:a="http://schemas.openxmlformats.org/drawingml/2006/main" noGrp="1"/>
          </p:cNvSpPr>
          <p:nvPr/>
        </p:nvSpPr>
        <p:spPr>
          <a:xfrm xmlns:a="http://schemas.openxmlformats.org/drawingml/2006/main">
            <a:off x="9296400" y="4343400"/>
            <a:ext cx="7772400" cy="8001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00">
                <a:solidFill>
                  <a:srgbClr val="334155"/>
                </a:solidFill>
                <a:latin typeface="Trebuchet MS"/>
                <a:ea typeface="Trebuchet MS"/>
                <a:cs typeface="Trebuchet MS"/>
              </a:defRPr>
            </a:pPr>
            <a:r>
              <a:t>Students lack one clear view of assignments, syllabus progress, and revision gaps.</a:t>
            </a:r>
          </a:p>
        </p:txBody>
      </p:sp>
      <p:sp>
        <p:nvSpPr>
          <p:cNvPr id="16" name="">
            <a:extLst xmlns:a="http://schemas.openxmlformats.org/drawingml/2006/main">
              <a:ext uri="{FF2B5EF4-FFF2-40B4-BE49-F238E27FC236}">
                <a16:creationId xmlns:a16="http://schemas.microsoft.com/office/drawing/2014/main" id="{7E55F963-4DFC-4FB2-BBC7-6F103B60E8EC}"/>
              </a:ext>
            </a:extLst>
          </p:cNvPr>
          <p:cNvSpPr>
            <a:spLocks xmlns:a="http://schemas.openxmlformats.org/drawingml/2006/main" noGrp="1"/>
          </p:cNvSpPr>
          <p:nvPr/>
        </p:nvSpPr>
        <p:spPr>
          <a:xfrm xmlns:a="http://schemas.openxmlformats.org/drawingml/2006/main">
            <a:off x="9029700" y="5524500"/>
            <a:ext cx="95250" cy="62865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7F32832-A634-4AB0-83FF-DC09B32CE0F8}"/>
              </a:ext>
            </a:extLst>
          </p:cNvPr>
          <p:cNvSpPr>
            <a:spLocks xmlns:a="http://schemas.openxmlformats.org/drawingml/2006/main" noGrp="1"/>
          </p:cNvSpPr>
          <p:nvPr/>
        </p:nvSpPr>
        <p:spPr>
          <a:xfrm xmlns:a="http://schemas.openxmlformats.org/drawingml/2006/main">
            <a:off x="9296400" y="5467350"/>
            <a:ext cx="7772400" cy="8001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00">
                <a:solidFill>
                  <a:srgbClr val="334155"/>
                </a:solidFill>
                <a:latin typeface="Trebuchet MS"/>
                <a:ea typeface="Trebuchet MS"/>
                <a:cs typeface="Trebuchet MS"/>
              </a:defRPr>
            </a:pPr>
            <a:r>
              <a:t>PYQ analysis, model-paper planning, and answer practice stay mostly manual.</a:t>
            </a:r>
          </a:p>
        </p:txBody>
      </p:sp>
      <p:sp>
        <p:nvSpPr>
          <p:cNvPr id="18" name="">
            <a:extLst xmlns:a="http://schemas.openxmlformats.org/drawingml/2006/main">
              <a:ext uri="{FF2B5EF4-FFF2-40B4-BE49-F238E27FC236}">
                <a16:creationId xmlns:a16="http://schemas.microsoft.com/office/drawing/2014/main" id="{C41642D1-8FEB-4A71-B2FC-B5D62F99624A}"/>
              </a:ext>
            </a:extLst>
          </p:cNvPr>
          <p:cNvSpPr>
            <a:spLocks xmlns:a="http://schemas.openxmlformats.org/drawingml/2006/main" noGrp="1"/>
          </p:cNvSpPr>
          <p:nvPr/>
        </p:nvSpPr>
        <p:spPr>
          <a:xfrm xmlns:a="http://schemas.openxmlformats.org/drawingml/2006/main">
            <a:off x="9029700" y="6648450"/>
            <a:ext cx="95250" cy="62865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89E5126-697B-4A29-ACA9-1DC5FD86A8B9}"/>
              </a:ext>
            </a:extLst>
          </p:cNvPr>
          <p:cNvSpPr>
            <a:spLocks xmlns:a="http://schemas.openxmlformats.org/drawingml/2006/main" noGrp="1"/>
          </p:cNvSpPr>
          <p:nvPr/>
        </p:nvSpPr>
        <p:spPr>
          <a:xfrm xmlns:a="http://schemas.openxmlformats.org/drawingml/2006/main">
            <a:off x="9296400" y="6591300"/>
            <a:ext cx="7772400" cy="8001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00">
                <a:solidFill>
                  <a:srgbClr val="334155"/>
                </a:solidFill>
                <a:latin typeface="Trebuchet MS"/>
                <a:ea typeface="Trebuchet MS"/>
                <a:cs typeface="Trebuchet MS"/>
              </a:defRPr>
            </a:pPr>
            <a:r>
              <a:t>Admins need a simpler way to upload, organize, and review academic content.</a:t>
            </a:r>
          </a:p>
        </p:txBody>
      </p:sp>
    </p:spTree>
    <p:extLst>
      <p:ext uri="{BB962C8B-B14F-4D97-AF65-F5344CB8AC3E}">
        <p14:creationId xmlns:p14="http://schemas.microsoft.com/office/powerpoint/2010/main" val="142125792"/>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BAF4F9-D46D-4640-A0E1-280AA10B6390}"/>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21F0C1-9EA1-4E40-8BB7-DF7E797F77DE}"/>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Need Analysis</a:t>
            </a:r>
          </a:p>
        </p:txBody>
      </p:sp>
      <p:sp>
        <p:nvSpPr>
          <p:cNvPr id="3" name="">
            <a:extLst xmlns:a="http://schemas.openxmlformats.org/drawingml/2006/main">
              <a:ext uri="{FF2B5EF4-FFF2-40B4-BE49-F238E27FC236}">
                <a16:creationId xmlns:a16="http://schemas.microsoft.com/office/drawing/2014/main" id="{42C17CDE-380D-4ED9-B71E-8AB0285E8D7D}"/>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F3A571-906A-4C7A-B4AB-A44BF6058FEC}"/>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EE4B9E40-9984-483B-97C5-CF9471FBC149}"/>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4/20</a:t>
            </a:r>
          </a:p>
        </p:txBody>
      </p:sp>
      <p:sp>
        <p:nvSpPr>
          <p:cNvPr id="6" name="">
            <a:extLst xmlns:a="http://schemas.openxmlformats.org/drawingml/2006/main">
              <a:ext uri="{FF2B5EF4-FFF2-40B4-BE49-F238E27FC236}">
                <a16:creationId xmlns:a16="http://schemas.microsoft.com/office/drawing/2014/main" id="{0ED32A0B-6BC1-4DB0-901C-EDE6A111DB9C}"/>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Objectives Of The Project</a:t>
            </a:r>
          </a:p>
        </p:txBody>
      </p:sp>
      <p:sp>
        <p:nvSpPr>
          <p:cNvPr id="7" name="">
            <a:extLst xmlns:a="http://schemas.openxmlformats.org/drawingml/2006/main">
              <a:ext uri="{FF2B5EF4-FFF2-40B4-BE49-F238E27FC236}">
                <a16:creationId xmlns:a16="http://schemas.microsoft.com/office/drawing/2014/main" id="{6CDEC184-449C-4C2C-9DEA-5866757EC3C9}"/>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4A12133-2563-4F52-BCA1-24EB39857D5E}"/>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project aims to reduce academic confusion and create a clearer semester workflow from syllabus coverage to exam preparation.</a:t>
            </a:r>
          </a:p>
        </p:txBody>
      </p:sp>
      <p:sp>
        <p:nvSpPr>
          <p:cNvPr id="9" name="">
            <a:extLst xmlns:a="http://schemas.openxmlformats.org/drawingml/2006/main">
              <a:ext uri="{FF2B5EF4-FFF2-40B4-BE49-F238E27FC236}">
                <a16:creationId xmlns:a16="http://schemas.microsoft.com/office/drawing/2014/main" id="{711305CD-8A6A-40E7-AAA1-6704CE87BED7}"/>
              </a:ext>
            </a:extLst>
          </p:cNvPr>
          <p:cNvSpPr>
            <a:spLocks xmlns:a="http://schemas.openxmlformats.org/drawingml/2006/main" noGrp="1"/>
          </p:cNvSpPr>
          <p:nvPr/>
        </p:nvSpPr>
        <p:spPr>
          <a:xfrm xmlns:a="http://schemas.openxmlformats.org/drawingml/2006/main">
            <a:off x="800100" y="2571750"/>
            <a:ext cx="7829550" cy="59055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334155"/>
                </a:solidFill>
                <a:latin typeface="Trebuchet MS"/>
                <a:ea typeface="Trebuchet MS"/>
                <a:cs typeface="Trebuchet MS"/>
              </a:defRPr>
            </a:pPr>
            <a:r>
              <a:t>- Provide secure student and admin authentication.</a:t>
            </a:r>
          </a:p>
          <a:p xmlns:a="http://schemas.openxmlformats.org/drawingml/2006/main">
            <a:pPr>
              <a:defRPr sz="1725">
                <a:solidFill>
                  <a:srgbClr val="334155"/>
                </a:solidFill>
                <a:latin typeface="Trebuchet MS"/>
                <a:ea typeface="Trebuchet MS"/>
                <a:cs typeface="Trebuchet MS"/>
              </a:defRPr>
            </a:pPr>
            <a:r>
              <a:t>- Organize BCA subjects, units, and topic lists semester-wise.</a:t>
            </a:r>
          </a:p>
          <a:p xmlns:a="http://schemas.openxmlformats.org/drawingml/2006/main">
            <a:pPr>
              <a:defRPr sz="1725">
                <a:solidFill>
                  <a:srgbClr val="334155"/>
                </a:solidFill>
                <a:latin typeface="Trebuchet MS"/>
                <a:ea typeface="Trebuchet MS"/>
                <a:cs typeface="Trebuchet MS"/>
              </a:defRPr>
            </a:pPr>
            <a:r>
              <a:t>- Create a student dashboard for progress, assignments, and academic actions.</a:t>
            </a:r>
          </a:p>
          <a:p xmlns:a="http://schemas.openxmlformats.org/drawingml/2006/main">
            <a:pPr>
              <a:defRPr sz="1725">
                <a:solidFill>
                  <a:srgbClr val="334155"/>
                </a:solidFill>
                <a:latin typeface="Trebuchet MS"/>
                <a:ea typeface="Trebuchet MS"/>
                <a:cs typeface="Trebuchet MS"/>
              </a:defRPr>
            </a:pPr>
            <a:r>
              <a:t>- Track unit completion and topic confidence for better revision planning.</a:t>
            </a:r>
          </a:p>
          <a:p xmlns:a="http://schemas.openxmlformats.org/drawingml/2006/main">
            <a:pPr>
              <a:defRPr sz="1725">
                <a:solidFill>
                  <a:srgbClr val="334155"/>
                </a:solidFill>
                <a:latin typeface="Trebuchet MS"/>
                <a:ea typeface="Trebuchet MS"/>
                <a:cs typeface="Trebuchet MS"/>
              </a:defRPr>
            </a:pPr>
            <a:r>
              <a:t>- Offer a curated resource library for notes, PDFs, PYQs, videos, and links.</a:t>
            </a:r>
          </a:p>
        </p:txBody>
      </p:sp>
      <p:sp>
        <p:nvSpPr>
          <p:cNvPr id="10" name="">
            <a:extLst xmlns:a="http://schemas.openxmlformats.org/drawingml/2006/main">
              <a:ext uri="{FF2B5EF4-FFF2-40B4-BE49-F238E27FC236}">
                <a16:creationId xmlns:a16="http://schemas.microsoft.com/office/drawing/2014/main" id="{EC47E809-30E5-4546-B440-90B329146EE5}"/>
              </a:ext>
            </a:extLst>
          </p:cNvPr>
          <p:cNvSpPr>
            <a:spLocks xmlns:a="http://schemas.openxmlformats.org/drawingml/2006/main" noGrp="1"/>
          </p:cNvSpPr>
          <p:nvPr/>
        </p:nvSpPr>
        <p:spPr>
          <a:xfrm xmlns:a="http://schemas.openxmlformats.org/drawingml/2006/main">
            <a:off x="9048750" y="2686050"/>
            <a:ext cx="19050" cy="56197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4B696E-D0F8-406A-8E88-EFCC782E264D}"/>
              </a:ext>
            </a:extLst>
          </p:cNvPr>
          <p:cNvSpPr>
            <a:spLocks xmlns:a="http://schemas.openxmlformats.org/drawingml/2006/main" noGrp="1"/>
          </p:cNvSpPr>
          <p:nvPr/>
        </p:nvSpPr>
        <p:spPr>
          <a:xfrm xmlns:a="http://schemas.openxmlformats.org/drawingml/2006/main">
            <a:off x="9525000" y="2571750"/>
            <a:ext cx="7810500" cy="59055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334155"/>
                </a:solidFill>
                <a:latin typeface="Trebuchet MS"/>
                <a:ea typeface="Trebuchet MS"/>
                <a:cs typeface="Trebuchet MS"/>
              </a:defRPr>
            </a:pPr>
            <a:r>
              <a:t>- Enable admins to upload, manage, and analyze academic resources.</a:t>
            </a:r>
          </a:p>
          <a:p xmlns:a="http://schemas.openxmlformats.org/drawingml/2006/main">
            <a:pPr>
              <a:defRPr sz="1725">
                <a:solidFill>
                  <a:srgbClr val="334155"/>
                </a:solidFill>
                <a:latin typeface="Trebuchet MS"/>
                <a:ea typeface="Trebuchet MS"/>
                <a:cs typeface="Trebuchet MS"/>
              </a:defRPr>
            </a:pPr>
            <a:r>
              <a:t>- Generate AI-assisted tutor answers, quizzes, flashcards, PYQ support, and model papers.</a:t>
            </a:r>
          </a:p>
          <a:p xmlns:a="http://schemas.openxmlformats.org/drawingml/2006/main">
            <a:pPr>
              <a:defRPr sz="1725">
                <a:solidFill>
                  <a:srgbClr val="334155"/>
                </a:solidFill>
                <a:latin typeface="Trebuchet MS"/>
                <a:ea typeface="Trebuchet MS"/>
                <a:cs typeface="Trebuchet MS"/>
              </a:defRPr>
            </a:pPr>
            <a:r>
              <a:t>- Provide result utilities such as marks profile, target planner, and CGPA support.</a:t>
            </a:r>
          </a:p>
          <a:p xmlns:a="http://schemas.openxmlformats.org/drawingml/2006/main">
            <a:pPr>
              <a:defRPr sz="1725">
                <a:solidFill>
                  <a:srgbClr val="334155"/>
                </a:solidFill>
                <a:latin typeface="Trebuchet MS"/>
                <a:ea typeface="Trebuchet MS"/>
                <a:cs typeface="Trebuchet MS"/>
              </a:defRPr>
            </a:pPr>
            <a:r>
              <a:t>- Demonstrate modular full-stack development, API design, database modeling, testing, and deployment readiness.</a:t>
            </a:r>
          </a:p>
          <a:p xmlns:a="http://schemas.openxmlformats.org/drawingml/2006/main">
            <a:pPr>
              <a:defRPr sz="1725">
                <a:solidFill>
                  <a:srgbClr val="334155"/>
                </a:solidFill>
                <a:latin typeface="Trebuchet MS"/>
                <a:ea typeface="Trebuchet MS"/>
                <a:cs typeface="Trebuchet MS"/>
              </a:defRPr>
            </a:pPr>
            <a:r>
              <a:t>- Keep the architecture extensible for future mobile and multi-course expansion.</a:t>
            </a:r>
          </a:p>
        </p:txBody>
      </p:sp>
    </p:spTree>
    <p:extLst>
      <p:ext uri="{BB962C8B-B14F-4D97-AF65-F5344CB8AC3E}">
        <p14:creationId xmlns:p14="http://schemas.microsoft.com/office/powerpoint/2010/main" val="78416484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C36316-6A02-441C-BC3A-E316D02C1213}"/>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4EE003-DE68-4274-9886-AADD84187DD9}"/>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Scope</a:t>
            </a:r>
          </a:p>
        </p:txBody>
      </p:sp>
      <p:sp>
        <p:nvSpPr>
          <p:cNvPr id="3" name="">
            <a:extLst xmlns:a="http://schemas.openxmlformats.org/drawingml/2006/main">
              <a:ext uri="{FF2B5EF4-FFF2-40B4-BE49-F238E27FC236}">
                <a16:creationId xmlns:a16="http://schemas.microsoft.com/office/drawing/2014/main" id="{506E2C02-CC56-45ED-9FE5-9AD7DCDCBF77}"/>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F59010-C1F6-4279-846E-9BDDBDB5DFDC}"/>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2915FDAF-8A33-47E6-8039-E60A99BF7395}"/>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5/20</a:t>
            </a:r>
          </a:p>
        </p:txBody>
      </p:sp>
      <p:sp>
        <p:nvSpPr>
          <p:cNvPr id="6" name="">
            <a:extLst xmlns:a="http://schemas.openxmlformats.org/drawingml/2006/main">
              <a:ext uri="{FF2B5EF4-FFF2-40B4-BE49-F238E27FC236}">
                <a16:creationId xmlns:a16="http://schemas.microsoft.com/office/drawing/2014/main" id="{E4BAF78A-3814-4411-91B5-0D489BA0B817}"/>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Scope Of The Project</a:t>
            </a:r>
          </a:p>
        </p:txBody>
      </p:sp>
      <p:sp>
        <p:nvSpPr>
          <p:cNvPr id="7" name="">
            <a:extLst xmlns:a="http://schemas.openxmlformats.org/drawingml/2006/main">
              <a:ext uri="{FF2B5EF4-FFF2-40B4-BE49-F238E27FC236}">
                <a16:creationId xmlns:a16="http://schemas.microsoft.com/office/drawing/2014/main" id="{9CDCFC7F-B15C-45AE-AAF4-1AEEFE52BCB6}"/>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19D66A0-BD58-4E33-B0AD-F9E625F62094}"/>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98148"/>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GradPath covers the academic support workflow for BCA students while keeping the product focused on study planning, resources, practice, and productivity.</a:t>
            </a:r>
          </a:p>
        </p:txBody>
      </p:sp>
      <p:sp>
        <p:nvSpPr>
          <p:cNvPr id="9" name="">
            <a:extLst xmlns:a="http://schemas.openxmlformats.org/drawingml/2006/main">
              <a:ext uri="{FF2B5EF4-FFF2-40B4-BE49-F238E27FC236}">
                <a16:creationId xmlns:a16="http://schemas.microsoft.com/office/drawing/2014/main" id="{109B8614-1861-4DE2-9725-D21D32765D57}"/>
              </a:ext>
            </a:extLst>
          </p:cNvPr>
          <p:cNvSpPr>
            <a:spLocks xmlns:a="http://schemas.openxmlformats.org/drawingml/2006/main" noGrp="1"/>
          </p:cNvSpPr>
          <p:nvPr/>
        </p:nvSpPr>
        <p:spPr>
          <a:xfrm xmlns:a="http://schemas.openxmlformats.org/drawingml/2006/main">
            <a:off x="800100" y="2743200"/>
            <a:ext cx="2000250" cy="342900"/>
          </a:xfrm>
          <a:prstGeom xmlns:a="http://schemas.openxmlformats.org/drawingml/2006/main" prst="roundRect">
            <a:avLst>
              <a:gd name="adj" fmla="val 22222"/>
            </a:avLst>
          </a:prstGeom>
          <a:solidFill xmlns:a="http://schemas.openxmlformats.org/drawingml/2006/main">
            <a:srgbClr val="E8F0E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Student Side</a:t>
            </a:r>
          </a:p>
        </p:txBody>
      </p:sp>
      <p:sp>
        <p:nvSpPr>
          <p:cNvPr id="10" name="">
            <a:extLst xmlns:a="http://schemas.openxmlformats.org/drawingml/2006/main">
              <a:ext uri="{FF2B5EF4-FFF2-40B4-BE49-F238E27FC236}">
                <a16:creationId xmlns:a16="http://schemas.microsoft.com/office/drawing/2014/main" id="{586A027E-CA33-4D9F-8C42-D623B8EA6177}"/>
              </a:ext>
            </a:extLst>
          </p:cNvPr>
          <p:cNvSpPr>
            <a:spLocks xmlns:a="http://schemas.openxmlformats.org/drawingml/2006/main" noGrp="1"/>
          </p:cNvSpPr>
          <p:nvPr/>
        </p:nvSpPr>
        <p:spPr>
          <a:xfrm xmlns:a="http://schemas.openxmlformats.org/drawingml/2006/main">
            <a:off x="800100" y="3295650"/>
            <a:ext cx="4857750" cy="31432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334155"/>
                </a:solidFill>
                <a:latin typeface="Trebuchet MS"/>
                <a:ea typeface="Trebuchet MS"/>
                <a:cs typeface="Trebuchet MS"/>
              </a:defRPr>
            </a:pPr>
            <a:r>
              <a:t>- Dashboard, semester subjects, and unit progress</a:t>
            </a:r>
          </a:p>
          <a:p xmlns:a="http://schemas.openxmlformats.org/drawingml/2006/main">
            <a:pPr>
              <a:defRPr sz="1725">
                <a:solidFill>
                  <a:srgbClr val="334155"/>
                </a:solidFill>
                <a:latin typeface="Trebuchet MS"/>
                <a:ea typeface="Trebuchet MS"/>
                <a:cs typeface="Trebuchet MS"/>
              </a:defRPr>
            </a:pPr>
            <a:r>
              <a:t>- Assignments, practice center, flashcards, and AI tutor</a:t>
            </a:r>
          </a:p>
          <a:p xmlns:a="http://schemas.openxmlformats.org/drawingml/2006/main">
            <a:pPr>
              <a:defRPr sz="1725">
                <a:solidFill>
                  <a:srgbClr val="334155"/>
                </a:solidFill>
                <a:latin typeface="Trebuchet MS"/>
                <a:ea typeface="Trebuchet MS"/>
                <a:cs typeface="Trebuchet MS"/>
              </a:defRPr>
            </a:pPr>
            <a:r>
              <a:t>- Model paper generation and result planning utilities</a:t>
            </a:r>
          </a:p>
        </p:txBody>
      </p:sp>
      <p:sp>
        <p:nvSpPr>
          <p:cNvPr id="11" name="">
            <a:extLst xmlns:a="http://schemas.openxmlformats.org/drawingml/2006/main">
              <a:ext uri="{FF2B5EF4-FFF2-40B4-BE49-F238E27FC236}">
                <a16:creationId xmlns:a16="http://schemas.microsoft.com/office/drawing/2014/main" id="{B50AD64E-4715-47BD-83F6-03B393797030}"/>
              </a:ext>
            </a:extLst>
          </p:cNvPr>
          <p:cNvSpPr>
            <a:spLocks xmlns:a="http://schemas.openxmlformats.org/drawingml/2006/main" noGrp="1"/>
          </p:cNvSpPr>
          <p:nvPr/>
        </p:nvSpPr>
        <p:spPr>
          <a:xfrm xmlns:a="http://schemas.openxmlformats.org/drawingml/2006/main">
            <a:off x="6457950" y="2743200"/>
            <a:ext cx="2000250" cy="342900"/>
          </a:xfrm>
          <a:prstGeom xmlns:a="http://schemas.openxmlformats.org/drawingml/2006/main" prst="roundRect">
            <a:avLst>
              <a:gd name="adj" fmla="val 22222"/>
            </a:avLst>
          </a:prstGeom>
          <a:solidFill xmlns:a="http://schemas.openxmlformats.org/drawingml/2006/main">
            <a:srgbClr val="E8F0E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Admin Side</a:t>
            </a:r>
          </a:p>
        </p:txBody>
      </p:sp>
      <p:sp>
        <p:nvSpPr>
          <p:cNvPr id="12" name="">
            <a:extLst xmlns:a="http://schemas.openxmlformats.org/drawingml/2006/main">
              <a:ext uri="{FF2B5EF4-FFF2-40B4-BE49-F238E27FC236}">
                <a16:creationId xmlns:a16="http://schemas.microsoft.com/office/drawing/2014/main" id="{405BF9F0-441F-4C3E-B970-46A05AA3D7CC}"/>
              </a:ext>
            </a:extLst>
          </p:cNvPr>
          <p:cNvSpPr>
            <a:spLocks xmlns:a="http://schemas.openxmlformats.org/drawingml/2006/main" noGrp="1"/>
          </p:cNvSpPr>
          <p:nvPr/>
        </p:nvSpPr>
        <p:spPr>
          <a:xfrm xmlns:a="http://schemas.openxmlformats.org/drawingml/2006/main">
            <a:off x="6457950" y="3295650"/>
            <a:ext cx="4857750" cy="31432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334155"/>
                </a:solidFill>
                <a:latin typeface="Trebuchet MS"/>
                <a:ea typeface="Trebuchet MS"/>
                <a:cs typeface="Trebuchet MS"/>
              </a:defRPr>
            </a:pPr>
            <a:r>
              <a:t>- User directory and resource upload</a:t>
            </a:r>
          </a:p>
          <a:p xmlns:a="http://schemas.openxmlformats.org/drawingml/2006/main">
            <a:pPr>
              <a:defRPr sz="1725">
                <a:solidFill>
                  <a:srgbClr val="334155"/>
                </a:solidFill>
                <a:latin typeface="Trebuchet MS"/>
                <a:ea typeface="Trebuchet MS"/>
                <a:cs typeface="Trebuchet MS"/>
              </a:defRPr>
            </a:pPr>
            <a:r>
              <a:t>- Resource management and review workflow</a:t>
            </a:r>
          </a:p>
          <a:p xmlns:a="http://schemas.openxmlformats.org/drawingml/2006/main">
            <a:pPr>
              <a:defRPr sz="1725">
                <a:solidFill>
                  <a:srgbClr val="334155"/>
                </a:solidFill>
                <a:latin typeface="Trebuchet MS"/>
                <a:ea typeface="Trebuchet MS"/>
                <a:cs typeface="Trebuchet MS"/>
              </a:defRPr>
            </a:pPr>
            <a:r>
              <a:t>- Coverage visibility and basic analytics</a:t>
            </a:r>
          </a:p>
        </p:txBody>
      </p:sp>
      <p:sp>
        <p:nvSpPr>
          <p:cNvPr id="13" name="">
            <a:extLst xmlns:a="http://schemas.openxmlformats.org/drawingml/2006/main">
              <a:ext uri="{FF2B5EF4-FFF2-40B4-BE49-F238E27FC236}">
                <a16:creationId xmlns:a16="http://schemas.microsoft.com/office/drawing/2014/main" id="{C43AD3E6-E27A-452D-AA58-77197AB2B4D9}"/>
              </a:ext>
            </a:extLst>
          </p:cNvPr>
          <p:cNvSpPr>
            <a:spLocks xmlns:a="http://schemas.openxmlformats.org/drawingml/2006/main" noGrp="1"/>
          </p:cNvSpPr>
          <p:nvPr/>
        </p:nvSpPr>
        <p:spPr>
          <a:xfrm xmlns:a="http://schemas.openxmlformats.org/drawingml/2006/main">
            <a:off x="12115800" y="2743200"/>
            <a:ext cx="2000250" cy="342900"/>
          </a:xfrm>
          <a:prstGeom xmlns:a="http://schemas.openxmlformats.org/drawingml/2006/main" prst="roundRect">
            <a:avLst>
              <a:gd name="adj" fmla="val 22222"/>
            </a:avLst>
          </a:prstGeom>
          <a:solidFill xmlns:a="http://schemas.openxmlformats.org/drawingml/2006/main">
            <a:srgbClr val="E8F0E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System Boundary</a:t>
            </a:r>
          </a:p>
        </p:txBody>
      </p:sp>
      <p:sp>
        <p:nvSpPr>
          <p:cNvPr id="14" name="">
            <a:extLst xmlns:a="http://schemas.openxmlformats.org/drawingml/2006/main">
              <a:ext uri="{FF2B5EF4-FFF2-40B4-BE49-F238E27FC236}">
                <a16:creationId xmlns:a16="http://schemas.microsoft.com/office/drawing/2014/main" id="{D3E5E938-76BB-498F-AAD3-4DE1645AD728}"/>
              </a:ext>
            </a:extLst>
          </p:cNvPr>
          <p:cNvSpPr>
            <a:spLocks xmlns:a="http://schemas.openxmlformats.org/drawingml/2006/main" noGrp="1"/>
          </p:cNvSpPr>
          <p:nvPr/>
        </p:nvSpPr>
        <p:spPr>
          <a:xfrm xmlns:a="http://schemas.openxmlformats.org/drawingml/2006/main">
            <a:off x="12115800" y="3295650"/>
            <a:ext cx="4857750" cy="31432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334155"/>
                </a:solidFill>
                <a:latin typeface="Trebuchet MS"/>
                <a:ea typeface="Trebuchet MS"/>
                <a:cs typeface="Trebuchet MS"/>
              </a:defRPr>
            </a:pPr>
            <a:r>
              <a:t>- REST APIs, MongoDB persistence, JWT security</a:t>
            </a:r>
          </a:p>
          <a:p xmlns:a="http://schemas.openxmlformats.org/drawingml/2006/main">
            <a:pPr>
              <a:defRPr sz="1725">
                <a:solidFill>
                  <a:srgbClr val="334155"/>
                </a:solidFill>
                <a:latin typeface="Trebuchet MS"/>
                <a:ea typeface="Trebuchet MS"/>
                <a:cs typeface="Trebuchet MS"/>
              </a:defRPr>
            </a:pPr>
            <a:r>
              <a:t>- Cloudinary storage and Gemini integration</a:t>
            </a:r>
          </a:p>
          <a:p xmlns:a="http://schemas.openxmlformats.org/drawingml/2006/main">
            <a:pPr>
              <a:defRPr sz="1725">
                <a:solidFill>
                  <a:srgbClr val="334155"/>
                </a:solidFill>
                <a:latin typeface="Trebuchet MS"/>
                <a:ea typeface="Trebuchet MS"/>
                <a:cs typeface="Trebuchet MS"/>
              </a:defRPr>
            </a:pPr>
            <a:r>
              <a:t>- Not intended to replace a full LMS, attendance, or fee system</a:t>
            </a:r>
          </a:p>
        </p:txBody>
      </p:sp>
      <p:sp>
        <p:nvSpPr>
          <p:cNvPr id="15" name="">
            <a:extLst xmlns:a="http://schemas.openxmlformats.org/drawingml/2006/main">
              <a:ext uri="{FF2B5EF4-FFF2-40B4-BE49-F238E27FC236}">
                <a16:creationId xmlns:a16="http://schemas.microsoft.com/office/drawing/2014/main" id="{33A0A729-A47C-4E6D-B17B-B01E41760726}"/>
              </a:ext>
            </a:extLst>
          </p:cNvPr>
          <p:cNvSpPr>
            <a:spLocks xmlns:a="http://schemas.openxmlformats.org/drawingml/2006/main" noGrp="1"/>
          </p:cNvSpPr>
          <p:nvPr/>
        </p:nvSpPr>
        <p:spPr>
          <a:xfrm xmlns:a="http://schemas.openxmlformats.org/drawingml/2006/main">
            <a:off x="800100" y="7029450"/>
            <a:ext cx="16687800" cy="1200150"/>
          </a:xfrm>
          <a:prstGeom xmlns:a="http://schemas.openxmlformats.org/drawingml/2006/main" prst="roundRect">
            <a:avLst>
              <a:gd name="adj" fmla="val 6349"/>
            </a:avLst>
          </a:prstGeom>
          <a:solidFill xmlns:a="http://schemas.openxmlformats.org/drawingml/2006/main">
            <a:srgbClr val="E8EEF8"/>
          </a:solidFill>
          <a:ln xmlns:a="http://schemas.openxmlformats.org/drawingml/2006/main" w="9525">
            <a:solidFill>
              <a:srgbClr val="D8D2C8"/>
            </a:solidFill>
          </a:ln>
        </p:spPr>
      </p:sp>
      <p:sp>
        <p:nvSpPr>
          <p:cNvPr id="16" name="">
            <a:extLst xmlns:a="http://schemas.openxmlformats.org/drawingml/2006/main">
              <a:ext uri="{FF2B5EF4-FFF2-40B4-BE49-F238E27FC236}">
                <a16:creationId xmlns:a16="http://schemas.microsoft.com/office/drawing/2014/main" id="{ED97D37C-1FB9-423F-9656-5447B57A2C17}"/>
              </a:ext>
            </a:extLst>
          </p:cNvPr>
          <p:cNvSpPr>
            <a:spLocks xmlns:a="http://schemas.openxmlformats.org/drawingml/2006/main" noGrp="1"/>
          </p:cNvSpPr>
          <p:nvPr/>
        </p:nvSpPr>
        <p:spPr>
          <a:xfrm xmlns:a="http://schemas.openxmlformats.org/drawingml/2006/main">
            <a:off x="1143000" y="7353300"/>
            <a:ext cx="16002000" cy="51435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97911"/>
          </a:bodyPr>
          <a:lstStyle xmlns:a="http://schemas.openxmlformats.org/drawingml/2006/main"/>
          <a:p xmlns:a="http://schemas.openxmlformats.org/drawingml/2006/main">
            <a:pPr>
              <a:defRPr sz="1650" b="1">
                <a:solidFill>
                  <a:srgbClr val="1F3061"/>
                </a:solidFill>
                <a:latin typeface="Trebuchet MS"/>
                <a:ea typeface="Trebuchet MS"/>
                <a:cs typeface="Trebuchet MS"/>
              </a:defRPr>
            </a:pPr>
            <a:r>
              <a:t>Future expansion can add mobile access, notifications, PDF text indexing, richer analytics, and teacher-side workflows without changing the core project direction.</a:t>
            </a:r>
          </a:p>
        </p:txBody>
      </p:sp>
    </p:spTree>
    <p:extLst>
      <p:ext uri="{BB962C8B-B14F-4D97-AF65-F5344CB8AC3E}">
        <p14:creationId xmlns:p14="http://schemas.microsoft.com/office/powerpoint/2010/main" val="11919776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5D9EFF-6C10-47D8-B01C-5732135FD694}"/>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515017-12D8-4CD5-8AE3-CE68C7008F85}"/>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Current State</a:t>
            </a:r>
          </a:p>
        </p:txBody>
      </p:sp>
      <p:sp>
        <p:nvSpPr>
          <p:cNvPr id="3" name="">
            <a:extLst xmlns:a="http://schemas.openxmlformats.org/drawingml/2006/main">
              <a:ext uri="{FF2B5EF4-FFF2-40B4-BE49-F238E27FC236}">
                <a16:creationId xmlns:a16="http://schemas.microsoft.com/office/drawing/2014/main" id="{39899557-9CF6-4EA6-946A-B59991CEA710}"/>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97DBC4-3330-41B1-9E30-11CF0CBEA320}"/>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8791AE8A-8876-4584-9E0A-896B9752EEF0}"/>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6/20</a:t>
            </a:r>
          </a:p>
        </p:txBody>
      </p:sp>
      <p:sp>
        <p:nvSpPr>
          <p:cNvPr id="6" name="">
            <a:extLst xmlns:a="http://schemas.openxmlformats.org/drawingml/2006/main">
              <a:ext uri="{FF2B5EF4-FFF2-40B4-BE49-F238E27FC236}">
                <a16:creationId xmlns:a16="http://schemas.microsoft.com/office/drawing/2014/main" id="{D303EE1A-C3A1-4537-8EE0-770B5AAD152D}"/>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Existing System And Its Limitations</a:t>
            </a:r>
          </a:p>
        </p:txBody>
      </p:sp>
      <p:sp>
        <p:nvSpPr>
          <p:cNvPr id="7" name="">
            <a:extLst xmlns:a="http://schemas.openxmlformats.org/drawingml/2006/main">
              <a:ext uri="{FF2B5EF4-FFF2-40B4-BE49-F238E27FC236}">
                <a16:creationId xmlns:a16="http://schemas.microsoft.com/office/drawing/2014/main" id="{B9F33884-3FC7-42F5-A73D-4E7816DD624B}"/>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841D1CC-25E8-45E6-ACE8-0EEA6E36CAE9}"/>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98148"/>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present academic workflow depends on disconnected sources and does not provide one structured command center for planning, study, and practice.</a:t>
            </a:r>
          </a:p>
        </p:txBody>
      </p:sp>
      <p:sp>
        <p:nvSpPr>
          <p:cNvPr id="9" name="">
            <a:extLst xmlns:a="http://schemas.openxmlformats.org/drawingml/2006/main">
              <a:ext uri="{FF2B5EF4-FFF2-40B4-BE49-F238E27FC236}">
                <a16:creationId xmlns:a16="http://schemas.microsoft.com/office/drawing/2014/main" id="{FE40492D-7E9D-4409-8A05-F56D4A02D5B3}"/>
              </a:ext>
            </a:extLst>
          </p:cNvPr>
          <p:cNvSpPr>
            <a:spLocks xmlns:a="http://schemas.openxmlformats.org/drawingml/2006/main" noGrp="1"/>
          </p:cNvSpPr>
          <p:nvPr/>
        </p:nvSpPr>
        <p:spPr>
          <a:xfrm xmlns:a="http://schemas.openxmlformats.org/drawingml/2006/main">
            <a:off x="800100" y="2724150"/>
            <a:ext cx="2190750" cy="342900"/>
          </a:xfrm>
          <a:prstGeom xmlns:a="http://schemas.openxmlformats.org/drawingml/2006/main" prst="roundRect">
            <a:avLst>
              <a:gd name="adj" fmla="val 22222"/>
            </a:avLst>
          </a:prstGeom>
          <a:solidFill xmlns:a="http://schemas.openxmlformats.org/drawingml/2006/main">
            <a:srgbClr val="E8F0E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Existing Workflow</a:t>
            </a:r>
          </a:p>
        </p:txBody>
      </p:sp>
      <p:sp>
        <p:nvSpPr>
          <p:cNvPr id="10" name="">
            <a:extLst xmlns:a="http://schemas.openxmlformats.org/drawingml/2006/main">
              <a:ext uri="{FF2B5EF4-FFF2-40B4-BE49-F238E27FC236}">
                <a16:creationId xmlns:a16="http://schemas.microsoft.com/office/drawing/2014/main" id="{08D069F0-319C-46A3-B68B-27A191727E76}"/>
              </a:ext>
            </a:extLst>
          </p:cNvPr>
          <p:cNvSpPr>
            <a:spLocks xmlns:a="http://schemas.openxmlformats.org/drawingml/2006/main" noGrp="1"/>
          </p:cNvSpPr>
          <p:nvPr/>
        </p:nvSpPr>
        <p:spPr>
          <a:xfrm xmlns:a="http://schemas.openxmlformats.org/drawingml/2006/main">
            <a:off x="800100" y="3276600"/>
            <a:ext cx="7524750" cy="41719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334155"/>
                </a:solidFill>
                <a:latin typeface="Trebuchet MS"/>
                <a:ea typeface="Trebuchet MS"/>
                <a:cs typeface="Trebuchet MS"/>
              </a:defRPr>
            </a:pPr>
            <a:r>
              <a:t>- Manual notebooks, WhatsApp groups, PDFs, Google Drive folders, and class announcements</a:t>
            </a:r>
          </a:p>
          <a:p xmlns:a="http://schemas.openxmlformats.org/drawingml/2006/main">
            <a:pPr>
              <a:defRPr sz="1725">
                <a:solidFill>
                  <a:srgbClr val="334155"/>
                </a:solidFill>
                <a:latin typeface="Trebuchet MS"/>
                <a:ea typeface="Trebuchet MS"/>
                <a:cs typeface="Trebuchet MS"/>
              </a:defRPr>
            </a:pPr>
            <a:r>
              <a:t>- Progress often tracked mentally or on paper instead of in a central dashboard</a:t>
            </a:r>
          </a:p>
          <a:p xmlns:a="http://schemas.openxmlformats.org/drawingml/2006/main">
            <a:pPr>
              <a:defRPr sz="1725">
                <a:solidFill>
                  <a:srgbClr val="334155"/>
                </a:solidFill>
                <a:latin typeface="Trebuchet MS"/>
                <a:ea typeface="Trebuchet MS"/>
                <a:cs typeface="Trebuchet MS"/>
              </a:defRPr>
            </a:pPr>
            <a:r>
              <a:t>- Assignments and revision planning handled through reminders and scattered notes</a:t>
            </a:r>
          </a:p>
          <a:p xmlns:a="http://schemas.openxmlformats.org/drawingml/2006/main">
            <a:pPr>
              <a:defRPr sz="1725">
                <a:solidFill>
                  <a:srgbClr val="334155"/>
                </a:solidFill>
                <a:latin typeface="Trebuchet MS"/>
                <a:ea typeface="Trebuchet MS"/>
                <a:cs typeface="Trebuchet MS"/>
              </a:defRPr>
            </a:pPr>
            <a:r>
              <a:t>- Generic apps do not connect units, resources, PYQs, quizzes, and results in one academic flow</a:t>
            </a:r>
          </a:p>
        </p:txBody>
      </p:sp>
      <p:sp>
        <p:nvSpPr>
          <p:cNvPr id="11" name="">
            <a:extLst xmlns:a="http://schemas.openxmlformats.org/drawingml/2006/main">
              <a:ext uri="{FF2B5EF4-FFF2-40B4-BE49-F238E27FC236}">
                <a16:creationId xmlns:a16="http://schemas.microsoft.com/office/drawing/2014/main" id="{3590152B-A0A2-4F1D-A88B-C6DDC33067C2}"/>
              </a:ext>
            </a:extLst>
          </p:cNvPr>
          <p:cNvSpPr>
            <a:spLocks xmlns:a="http://schemas.openxmlformats.org/drawingml/2006/main" noGrp="1"/>
          </p:cNvSpPr>
          <p:nvPr/>
        </p:nvSpPr>
        <p:spPr>
          <a:xfrm xmlns:a="http://schemas.openxmlformats.org/drawingml/2006/main">
            <a:off x="9029700" y="2724150"/>
            <a:ext cx="19050" cy="533400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51C16E5-3FAF-4102-B472-F3D2B0D916C0}"/>
              </a:ext>
            </a:extLst>
          </p:cNvPr>
          <p:cNvSpPr>
            <a:spLocks xmlns:a="http://schemas.openxmlformats.org/drawingml/2006/main" noGrp="1"/>
          </p:cNvSpPr>
          <p:nvPr/>
        </p:nvSpPr>
        <p:spPr>
          <a:xfrm xmlns:a="http://schemas.openxmlformats.org/drawingml/2006/main">
            <a:off x="9620250" y="2724150"/>
            <a:ext cx="2571750" cy="342900"/>
          </a:xfrm>
          <a:prstGeom xmlns:a="http://schemas.openxmlformats.org/drawingml/2006/main" prst="roundRect">
            <a:avLst>
              <a:gd name="adj" fmla="val 22222"/>
            </a:avLst>
          </a:prstGeom>
          <a:solidFill xmlns:a="http://schemas.openxmlformats.org/drawingml/2006/main">
            <a:srgbClr val="E8EE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Why It Falls Short</a:t>
            </a:r>
          </a:p>
        </p:txBody>
      </p:sp>
      <p:sp>
        <p:nvSpPr>
          <p:cNvPr id="13" name="">
            <a:extLst xmlns:a="http://schemas.openxmlformats.org/drawingml/2006/main">
              <a:ext uri="{FF2B5EF4-FFF2-40B4-BE49-F238E27FC236}">
                <a16:creationId xmlns:a16="http://schemas.microsoft.com/office/drawing/2014/main" id="{7B357A3F-D439-4E3B-B5AD-89BD5ABBEF8E}"/>
              </a:ext>
            </a:extLst>
          </p:cNvPr>
          <p:cNvSpPr>
            <a:spLocks xmlns:a="http://schemas.openxmlformats.org/drawingml/2006/main" noGrp="1"/>
          </p:cNvSpPr>
          <p:nvPr/>
        </p:nvSpPr>
        <p:spPr>
          <a:xfrm xmlns:a="http://schemas.openxmlformats.org/drawingml/2006/main">
            <a:off x="9620250" y="3276600"/>
            <a:ext cx="7715250" cy="43815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334155"/>
                </a:solidFill>
                <a:latin typeface="Trebuchet MS"/>
                <a:ea typeface="Trebuchet MS"/>
                <a:cs typeface="Trebuchet MS"/>
              </a:defRPr>
            </a:pPr>
            <a:r>
              <a:t>- No centralized student dashboard for deadlines, progress, and weak areas</a:t>
            </a:r>
          </a:p>
          <a:p xmlns:a="http://schemas.openxmlformats.org/drawingml/2006/main">
            <a:pPr>
              <a:defRPr sz="1725">
                <a:solidFill>
                  <a:srgbClr val="334155"/>
                </a:solidFill>
                <a:latin typeface="Trebuchet MS"/>
                <a:ea typeface="Trebuchet MS"/>
                <a:cs typeface="Trebuchet MS"/>
              </a:defRPr>
            </a:pPr>
            <a:r>
              <a:t>- Folder-based sharing lacks analytics, topic mapping, and practice linkage</a:t>
            </a:r>
          </a:p>
          <a:p xmlns:a="http://schemas.openxmlformats.org/drawingml/2006/main">
            <a:pPr>
              <a:defRPr sz="1725">
                <a:solidFill>
                  <a:srgbClr val="334155"/>
                </a:solidFill>
                <a:latin typeface="Trebuchet MS"/>
                <a:ea typeface="Trebuchet MS"/>
                <a:cs typeface="Trebuchet MS"/>
              </a:defRPr>
            </a:pPr>
            <a:r>
              <a:t>- Manual result planning leads to rough estimates and inconsistent tracking</a:t>
            </a:r>
          </a:p>
          <a:p xmlns:a="http://schemas.openxmlformats.org/drawingml/2006/main">
            <a:pPr>
              <a:defRPr sz="1725">
                <a:solidFill>
                  <a:srgbClr val="334155"/>
                </a:solidFill>
                <a:latin typeface="Trebuchet MS"/>
                <a:ea typeface="Trebuchet MS"/>
                <a:cs typeface="Trebuchet MS"/>
              </a:defRPr>
            </a:pPr>
            <a:r>
              <a:t>- There is no integrated AI tutor, automated model-paper support, or structured admin insight</a:t>
            </a:r>
          </a:p>
        </p:txBody>
      </p:sp>
    </p:spTree>
    <p:extLst>
      <p:ext uri="{BB962C8B-B14F-4D97-AF65-F5344CB8AC3E}">
        <p14:creationId xmlns:p14="http://schemas.microsoft.com/office/powerpoint/2010/main" val="88336210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5A8A2B-72FA-4F5E-8BAB-AF7A7A77FAE8}"/>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B9E900-1497-4F48-80A9-688F5D9FF497}"/>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Solution</a:t>
            </a:r>
          </a:p>
        </p:txBody>
      </p:sp>
      <p:sp>
        <p:nvSpPr>
          <p:cNvPr id="3" name="">
            <a:extLst xmlns:a="http://schemas.openxmlformats.org/drawingml/2006/main">
              <a:ext uri="{FF2B5EF4-FFF2-40B4-BE49-F238E27FC236}">
                <a16:creationId xmlns:a16="http://schemas.microsoft.com/office/drawing/2014/main" id="{95F859EF-252B-46E1-8E7C-640FC169D900}"/>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1E05AE-41A6-4D80-B929-AFE552025E02}"/>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705839F7-DCA6-4A36-9E0C-CB6F7A04FE4A}"/>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7/20</a:t>
            </a:r>
          </a:p>
        </p:txBody>
      </p:sp>
      <p:sp>
        <p:nvSpPr>
          <p:cNvPr id="6" name="">
            <a:extLst xmlns:a="http://schemas.openxmlformats.org/drawingml/2006/main">
              <a:ext uri="{FF2B5EF4-FFF2-40B4-BE49-F238E27FC236}">
                <a16:creationId xmlns:a16="http://schemas.microsoft.com/office/drawing/2014/main" id="{A0887B25-E389-462B-A700-AD4461C76DFF}"/>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Proposed System</a:t>
            </a:r>
          </a:p>
        </p:txBody>
      </p:sp>
      <p:sp>
        <p:nvSpPr>
          <p:cNvPr id="7" name="">
            <a:extLst xmlns:a="http://schemas.openxmlformats.org/drawingml/2006/main">
              <a:ext uri="{FF2B5EF4-FFF2-40B4-BE49-F238E27FC236}">
                <a16:creationId xmlns:a16="http://schemas.microsoft.com/office/drawing/2014/main" id="{1AB5C8F6-1BF0-4C4B-96E3-C67EC17BAB2B}"/>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A104B4C-7354-4555-81A3-6439E44CB85D}"/>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98148"/>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GradPath proposes a centralized BCA academic platform that connects study planning, resources, practice, AI support, and result utilities through role-based access.</a:t>
            </a:r>
          </a:p>
        </p:txBody>
      </p:sp>
      <p:sp>
        <p:nvSpPr>
          <p:cNvPr id="9" name="">
            <a:extLst xmlns:a="http://schemas.openxmlformats.org/drawingml/2006/main">
              <a:ext uri="{FF2B5EF4-FFF2-40B4-BE49-F238E27FC236}">
                <a16:creationId xmlns:a16="http://schemas.microsoft.com/office/drawing/2014/main" id="{FD7CEA76-C3B7-44E2-8874-86FF749E80D9}"/>
              </a:ext>
            </a:extLst>
          </p:cNvPr>
          <p:cNvSpPr>
            <a:spLocks xmlns:a="http://schemas.openxmlformats.org/drawingml/2006/main" noGrp="1"/>
          </p:cNvSpPr>
          <p:nvPr/>
        </p:nvSpPr>
        <p:spPr>
          <a:xfrm xmlns:a="http://schemas.openxmlformats.org/drawingml/2006/main">
            <a:off x="800100" y="2724150"/>
            <a:ext cx="6953250" cy="1638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950">
                <a:solidFill>
                  <a:srgbClr val="101828"/>
                </a:solidFill>
                <a:latin typeface="Trebuchet MS"/>
                <a:ea typeface="Trebuchet MS"/>
                <a:cs typeface="Trebuchet MS"/>
              </a:defRPr>
            </a:pPr>
            <a:r>
              <a:t>Students use the system to move from overview to action: open the dashboard, choose subjects, study resources, practice topics, ask AI, generate model papers, and update progress without changing platforms.</a:t>
            </a:r>
          </a:p>
        </p:txBody>
      </p:sp>
      <p:sp>
        <p:nvSpPr>
          <p:cNvPr id="10" name="">
            <a:extLst xmlns:a="http://schemas.openxmlformats.org/drawingml/2006/main">
              <a:ext uri="{FF2B5EF4-FFF2-40B4-BE49-F238E27FC236}">
                <a16:creationId xmlns:a16="http://schemas.microsoft.com/office/drawing/2014/main" id="{C900F81E-47B9-47C2-B19D-BC20ED204F74}"/>
              </a:ext>
            </a:extLst>
          </p:cNvPr>
          <p:cNvSpPr>
            <a:spLocks xmlns:a="http://schemas.openxmlformats.org/drawingml/2006/main" noGrp="1"/>
          </p:cNvSpPr>
          <p:nvPr/>
        </p:nvSpPr>
        <p:spPr>
          <a:xfrm xmlns:a="http://schemas.openxmlformats.org/drawingml/2006/main">
            <a:off x="800100" y="4762500"/>
            <a:ext cx="6667500" cy="30480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 Unified dashboard for academic status and semester flow</a:t>
            </a:r>
          </a:p>
          <a:p xmlns:a="http://schemas.openxmlformats.org/drawingml/2006/main">
            <a:pPr>
              <a:defRPr sz="1650">
                <a:solidFill>
                  <a:srgbClr val="334155"/>
                </a:solidFill>
                <a:latin typeface="Trebuchet MS"/>
                <a:ea typeface="Trebuchet MS"/>
                <a:cs typeface="Trebuchet MS"/>
              </a:defRPr>
            </a:pPr>
            <a:r>
              <a:t>- Semester-wise subject and unit navigation</a:t>
            </a:r>
          </a:p>
          <a:p xmlns:a="http://schemas.openxmlformats.org/drawingml/2006/main">
            <a:pPr>
              <a:defRPr sz="1650">
                <a:solidFill>
                  <a:srgbClr val="334155"/>
                </a:solidFill>
                <a:latin typeface="Trebuchet MS"/>
                <a:ea typeface="Trebuchet MS"/>
                <a:cs typeface="Trebuchet MS"/>
              </a:defRPr>
            </a:pPr>
            <a:r>
              <a:t>- Curated resources with admin upload and review controls</a:t>
            </a:r>
          </a:p>
          <a:p xmlns:a="http://schemas.openxmlformats.org/drawingml/2006/main">
            <a:pPr>
              <a:defRPr sz="1650">
                <a:solidFill>
                  <a:srgbClr val="334155"/>
                </a:solidFill>
                <a:latin typeface="Trebuchet MS"/>
                <a:ea typeface="Trebuchet MS"/>
                <a:cs typeface="Trebuchet MS"/>
              </a:defRPr>
            </a:pPr>
            <a:r>
              <a:t>- AI tutor, quizzes, flashcards, PYQ support, and model-paper generation</a:t>
            </a:r>
          </a:p>
          <a:p xmlns:a="http://schemas.openxmlformats.org/drawingml/2006/main">
            <a:pPr>
              <a:defRPr sz="1650">
                <a:solidFill>
                  <a:srgbClr val="334155"/>
                </a:solidFill>
                <a:latin typeface="Trebuchet MS"/>
                <a:ea typeface="Trebuchet MS"/>
                <a:cs typeface="Trebuchet MS"/>
              </a:defRPr>
            </a:pPr>
            <a:r>
              <a:t>- Progress, assignment, and result planning utilities</a:t>
            </a:r>
          </a:p>
        </p:txBody>
      </p:sp>
      <p:sp>
        <p:nvSpPr>
          <p:cNvPr id="11" name="">
            <a:extLst xmlns:a="http://schemas.openxmlformats.org/drawingml/2006/main">
              <a:ext uri="{FF2B5EF4-FFF2-40B4-BE49-F238E27FC236}">
                <a16:creationId xmlns:a16="http://schemas.microsoft.com/office/drawing/2014/main" id="{DF322793-93D9-4E5D-936E-19E9B91831E3}"/>
              </a:ext>
            </a:extLst>
          </p:cNvPr>
          <p:cNvSpPr>
            <a:spLocks xmlns:a="http://schemas.openxmlformats.org/drawingml/2006/main" noGrp="1"/>
          </p:cNvSpPr>
          <p:nvPr/>
        </p:nvSpPr>
        <p:spPr>
          <a:xfrm xmlns:a="http://schemas.openxmlformats.org/drawingml/2006/main">
            <a:off x="8686800" y="2419350"/>
            <a:ext cx="8534400" cy="6038850"/>
          </a:xfrm>
          <a:prstGeom xmlns:a="http://schemas.openxmlformats.org/drawingml/2006/main" prst="roundRect">
            <a:avLst>
              <a:gd name="adj" fmla="val 1262"/>
            </a:avLst>
          </a:prstGeom>
          <a:solidFill xmlns:a="http://schemas.openxmlformats.org/drawingml/2006/main">
            <a:srgbClr val="FFFFFF"/>
          </a:solidFill>
          <a:ln xmlns:a="http://schemas.openxmlformats.org/drawingml/2006/main" w="9525">
            <a:solidFill>
              <a:srgbClr val="D8D2C8"/>
            </a:solid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8a11a571e124d51"/>
          <a:stretch xmlns:a="http://schemas.openxmlformats.org/drawingml/2006/main"/>
        </p:blipFill>
        <p:spPr>
          <a:xfrm xmlns:a="http://schemas.openxmlformats.org/drawingml/2006/main">
            <a:off x="11251632" y="2743200"/>
            <a:ext cx="3404737" cy="5219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470A6A9-5539-47A3-B65D-2C208C214328}"/>
              </a:ext>
            </a:extLst>
          </p:cNvPr>
          <p:cNvSpPr>
            <a:spLocks xmlns:a="http://schemas.openxmlformats.org/drawingml/2006/main" noGrp="1"/>
          </p:cNvSpPr>
          <p:nvPr/>
        </p:nvSpPr>
        <p:spPr>
          <a:xfrm xmlns:a="http://schemas.openxmlformats.org/drawingml/2006/main">
            <a:off x="9105900" y="2914650"/>
            <a:ext cx="1866900" cy="323850"/>
          </a:xfrm>
          <a:prstGeom xmlns:a="http://schemas.openxmlformats.org/drawingml/2006/main" prst="roundRect">
            <a:avLst>
              <a:gd name="adj" fmla="val 23529"/>
            </a:avLst>
          </a:prstGeom>
          <a:solidFill xmlns:a="http://schemas.openxmlformats.org/drawingml/2006/main">
            <a:srgbClr val="E8F0E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Use Case View</a:t>
            </a:r>
          </a:p>
        </p:txBody>
      </p:sp>
    </p:spTree>
    <p:extLst>
      <p:ext uri="{BB962C8B-B14F-4D97-AF65-F5344CB8AC3E}">
        <p14:creationId xmlns:p14="http://schemas.microsoft.com/office/powerpoint/2010/main" val="19865995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4B0765-229D-49ED-AC71-7B80C9101B6D}"/>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EDB500-74C6-402A-ACF3-B5F80AC9ACD2}"/>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Design</a:t>
            </a:r>
          </a:p>
        </p:txBody>
      </p:sp>
      <p:sp>
        <p:nvSpPr>
          <p:cNvPr id="3" name="">
            <a:extLst xmlns:a="http://schemas.openxmlformats.org/drawingml/2006/main">
              <a:ext uri="{FF2B5EF4-FFF2-40B4-BE49-F238E27FC236}">
                <a16:creationId xmlns:a16="http://schemas.microsoft.com/office/drawing/2014/main" id="{BA60530F-7158-414F-B57A-D1E784EF4091}"/>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E901EC-4D14-433B-BA48-464A961250FF}"/>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03AA5907-4391-4CF8-B40B-FFC2F03D0C1B}"/>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8/20</a:t>
            </a:r>
          </a:p>
        </p:txBody>
      </p:sp>
      <p:sp>
        <p:nvSpPr>
          <p:cNvPr id="6" name="">
            <a:extLst xmlns:a="http://schemas.openxmlformats.org/drawingml/2006/main">
              <a:ext uri="{FF2B5EF4-FFF2-40B4-BE49-F238E27FC236}">
                <a16:creationId xmlns:a16="http://schemas.microsoft.com/office/drawing/2014/main" id="{1FBCC11A-380C-4B30-A80F-AD65F808F22D}"/>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System Architecture</a:t>
            </a:r>
          </a:p>
        </p:txBody>
      </p:sp>
      <p:sp>
        <p:nvSpPr>
          <p:cNvPr id="7" name="">
            <a:extLst xmlns:a="http://schemas.openxmlformats.org/drawingml/2006/main">
              <a:ext uri="{FF2B5EF4-FFF2-40B4-BE49-F238E27FC236}">
                <a16:creationId xmlns:a16="http://schemas.microsoft.com/office/drawing/2014/main" id="{014A4052-23F3-4C24-88E4-CAB121FAAB33}"/>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42FFAF6-D499-41ED-91FB-1033843EC56E}"/>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project follows a layered architecture that keeps the interface, application logic, data layer, and external services clearly separated.</a:t>
            </a:r>
          </a:p>
        </p:txBody>
      </p:sp>
      <p:sp>
        <p:nvSpPr>
          <p:cNvPr id="9" name="">
            <a:extLst xmlns:a="http://schemas.openxmlformats.org/drawingml/2006/main">
              <a:ext uri="{FF2B5EF4-FFF2-40B4-BE49-F238E27FC236}">
                <a16:creationId xmlns:a16="http://schemas.microsoft.com/office/drawing/2014/main" id="{26262214-4C37-4ED8-BB36-B72A4F616564}"/>
              </a:ext>
            </a:extLst>
          </p:cNvPr>
          <p:cNvSpPr>
            <a:spLocks xmlns:a="http://schemas.openxmlformats.org/drawingml/2006/main" noGrp="1"/>
          </p:cNvSpPr>
          <p:nvPr/>
        </p:nvSpPr>
        <p:spPr>
          <a:xfrm xmlns:a="http://schemas.openxmlformats.org/drawingml/2006/main">
            <a:off x="800100" y="2819400"/>
            <a:ext cx="6477000" cy="1257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75">
                <a:solidFill>
                  <a:srgbClr val="101828"/>
                </a:solidFill>
                <a:latin typeface="Trebuchet MS"/>
                <a:ea typeface="Trebuchet MS"/>
                <a:cs typeface="Trebuchet MS"/>
              </a:defRPr>
            </a:pPr>
            <a:r>
              <a:t>GradPath uses a Next.js frontend, an Express API layer, MongoDB data persistence, and service integrations for file storage and AI-assisted academic features.</a:t>
            </a:r>
          </a:p>
        </p:txBody>
      </p:sp>
      <p:sp>
        <p:nvSpPr>
          <p:cNvPr id="10" name="">
            <a:extLst xmlns:a="http://schemas.openxmlformats.org/drawingml/2006/main">
              <a:ext uri="{FF2B5EF4-FFF2-40B4-BE49-F238E27FC236}">
                <a16:creationId xmlns:a16="http://schemas.microsoft.com/office/drawing/2014/main" id="{60A665F1-473B-4201-92FA-3C84A16AFD23}"/>
              </a:ext>
            </a:extLst>
          </p:cNvPr>
          <p:cNvSpPr>
            <a:spLocks xmlns:a="http://schemas.openxmlformats.org/drawingml/2006/main" noGrp="1"/>
          </p:cNvSpPr>
          <p:nvPr/>
        </p:nvSpPr>
        <p:spPr>
          <a:xfrm xmlns:a="http://schemas.openxmlformats.org/drawingml/2006/main">
            <a:off x="800100" y="4533900"/>
            <a:ext cx="133350" cy="552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5B09420-6682-45F8-BC32-59D67EF9AC80}"/>
              </a:ext>
            </a:extLst>
          </p:cNvPr>
          <p:cNvSpPr>
            <a:spLocks xmlns:a="http://schemas.openxmlformats.org/drawingml/2006/main" noGrp="1"/>
          </p:cNvSpPr>
          <p:nvPr/>
        </p:nvSpPr>
        <p:spPr>
          <a:xfrm xmlns:a="http://schemas.openxmlformats.org/drawingml/2006/main">
            <a:off x="1143000" y="4457700"/>
            <a:ext cx="6191250" cy="7810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575">
                <a:solidFill>
                  <a:srgbClr val="334155"/>
                </a:solidFill>
                <a:latin typeface="Trebuchet MS"/>
                <a:ea typeface="Trebuchet MS"/>
                <a:cs typeface="Trebuchet MS"/>
              </a:defRPr>
            </a:pPr>
            <a:r>
              <a:t>Presentation Layer: browser UI, Next.js frontend, React components, dashboard and practice surfaces.</a:t>
            </a:r>
          </a:p>
        </p:txBody>
      </p:sp>
      <p:sp>
        <p:nvSpPr>
          <p:cNvPr id="12" name="">
            <a:extLst xmlns:a="http://schemas.openxmlformats.org/drawingml/2006/main">
              <a:ext uri="{FF2B5EF4-FFF2-40B4-BE49-F238E27FC236}">
                <a16:creationId xmlns:a16="http://schemas.microsoft.com/office/drawing/2014/main" id="{512E4F4E-3BC1-4ACF-AB3D-AA44455E2FFE}"/>
              </a:ext>
            </a:extLst>
          </p:cNvPr>
          <p:cNvSpPr>
            <a:spLocks xmlns:a="http://schemas.openxmlformats.org/drawingml/2006/main" noGrp="1"/>
          </p:cNvSpPr>
          <p:nvPr/>
        </p:nvSpPr>
        <p:spPr>
          <a:xfrm xmlns:a="http://schemas.openxmlformats.org/drawingml/2006/main">
            <a:off x="800100" y="5505450"/>
            <a:ext cx="133350" cy="55245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FCB42DF-61AB-447D-8306-BAE5EF5DF1FF}"/>
              </a:ext>
            </a:extLst>
          </p:cNvPr>
          <p:cNvSpPr>
            <a:spLocks xmlns:a="http://schemas.openxmlformats.org/drawingml/2006/main" noGrp="1"/>
          </p:cNvSpPr>
          <p:nvPr/>
        </p:nvSpPr>
        <p:spPr>
          <a:xfrm xmlns:a="http://schemas.openxmlformats.org/drawingml/2006/main">
            <a:off x="1143000" y="5429250"/>
            <a:ext cx="6191250" cy="7810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575">
                <a:solidFill>
                  <a:srgbClr val="334155"/>
                </a:solidFill>
                <a:latin typeface="Trebuchet MS"/>
                <a:ea typeface="Trebuchet MS"/>
                <a:cs typeface="Trebuchet MS"/>
              </a:defRPr>
            </a:pPr>
            <a:r>
              <a:t>Application Layer: authentication, academic catalog, assignments, resources, quizzes, flashcards, AI tutor, and admin analytics.</a:t>
            </a:r>
          </a:p>
        </p:txBody>
      </p:sp>
      <p:sp>
        <p:nvSpPr>
          <p:cNvPr id="14" name="">
            <a:extLst xmlns:a="http://schemas.openxmlformats.org/drawingml/2006/main">
              <a:ext uri="{FF2B5EF4-FFF2-40B4-BE49-F238E27FC236}">
                <a16:creationId xmlns:a16="http://schemas.microsoft.com/office/drawing/2014/main" id="{F07291FA-F8E4-4672-B7BD-008F5C60DC70}"/>
              </a:ext>
            </a:extLst>
          </p:cNvPr>
          <p:cNvSpPr>
            <a:spLocks xmlns:a="http://schemas.openxmlformats.org/drawingml/2006/main" noGrp="1"/>
          </p:cNvSpPr>
          <p:nvPr/>
        </p:nvSpPr>
        <p:spPr>
          <a:xfrm xmlns:a="http://schemas.openxmlformats.org/drawingml/2006/main">
            <a:off x="800100" y="6477000"/>
            <a:ext cx="133350" cy="552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59A233-BA7F-433B-AF0D-049F4F37C99C}"/>
              </a:ext>
            </a:extLst>
          </p:cNvPr>
          <p:cNvSpPr>
            <a:spLocks xmlns:a="http://schemas.openxmlformats.org/drawingml/2006/main" noGrp="1"/>
          </p:cNvSpPr>
          <p:nvPr/>
        </p:nvSpPr>
        <p:spPr>
          <a:xfrm xmlns:a="http://schemas.openxmlformats.org/drawingml/2006/main">
            <a:off x="1143000" y="6400800"/>
            <a:ext cx="6191250" cy="7810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575">
                <a:solidFill>
                  <a:srgbClr val="334155"/>
                </a:solidFill>
                <a:latin typeface="Trebuchet MS"/>
                <a:ea typeface="Trebuchet MS"/>
                <a:cs typeface="Trebuchet MS"/>
              </a:defRPr>
            </a:pPr>
            <a:r>
              <a:t>Data Layer: MongoDB collections for users, subjects, units, resources, progress, quizzes, chats, and results.</a:t>
            </a:r>
          </a:p>
        </p:txBody>
      </p:sp>
      <p:sp>
        <p:nvSpPr>
          <p:cNvPr id="16" name="">
            <a:extLst xmlns:a="http://schemas.openxmlformats.org/drawingml/2006/main">
              <a:ext uri="{FF2B5EF4-FFF2-40B4-BE49-F238E27FC236}">
                <a16:creationId xmlns:a16="http://schemas.microsoft.com/office/drawing/2014/main" id="{8F3B4644-8211-40D6-A250-813DDAEF4F9D}"/>
              </a:ext>
            </a:extLst>
          </p:cNvPr>
          <p:cNvSpPr>
            <a:spLocks xmlns:a="http://schemas.openxmlformats.org/drawingml/2006/main" noGrp="1"/>
          </p:cNvSpPr>
          <p:nvPr/>
        </p:nvSpPr>
        <p:spPr>
          <a:xfrm xmlns:a="http://schemas.openxmlformats.org/drawingml/2006/main">
            <a:off x="800100" y="7448550"/>
            <a:ext cx="133350" cy="55245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6CAC250-F9E0-44DF-8543-0D69F2B742FE}"/>
              </a:ext>
            </a:extLst>
          </p:cNvPr>
          <p:cNvSpPr>
            <a:spLocks xmlns:a="http://schemas.openxmlformats.org/drawingml/2006/main" noGrp="1"/>
          </p:cNvSpPr>
          <p:nvPr/>
        </p:nvSpPr>
        <p:spPr>
          <a:xfrm xmlns:a="http://schemas.openxmlformats.org/drawingml/2006/main">
            <a:off x="1143000" y="7372350"/>
            <a:ext cx="6191250" cy="7810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575">
                <a:solidFill>
                  <a:srgbClr val="334155"/>
                </a:solidFill>
                <a:latin typeface="Trebuchet MS"/>
                <a:ea typeface="Trebuchet MS"/>
                <a:cs typeface="Trebuchet MS"/>
              </a:defRPr>
            </a:pPr>
            <a:r>
              <a:t>External Services: Cloudinary for file storage and Gemini API for intelligent responses.</a:t>
            </a:r>
          </a:p>
        </p:txBody>
      </p:sp>
      <p:sp>
        <p:nvSpPr>
          <p:cNvPr id="18" name="">
            <a:extLst xmlns:a="http://schemas.openxmlformats.org/drawingml/2006/main">
              <a:ext uri="{FF2B5EF4-FFF2-40B4-BE49-F238E27FC236}">
                <a16:creationId xmlns:a16="http://schemas.microsoft.com/office/drawing/2014/main" id="{0431C7C5-E87E-467D-9AD0-7DDA00746FFF}"/>
              </a:ext>
            </a:extLst>
          </p:cNvPr>
          <p:cNvSpPr>
            <a:spLocks xmlns:a="http://schemas.openxmlformats.org/drawingml/2006/main" noGrp="1"/>
          </p:cNvSpPr>
          <p:nvPr/>
        </p:nvSpPr>
        <p:spPr>
          <a:xfrm xmlns:a="http://schemas.openxmlformats.org/drawingml/2006/main">
            <a:off x="7810500" y="2324100"/>
            <a:ext cx="9677400" cy="6438900"/>
          </a:xfrm>
          <a:prstGeom xmlns:a="http://schemas.openxmlformats.org/drawingml/2006/main" prst="roundRect">
            <a:avLst>
              <a:gd name="adj" fmla="val 1183"/>
            </a:avLst>
          </a:prstGeom>
          <a:solidFill xmlns:a="http://schemas.openxmlformats.org/drawingml/2006/main">
            <a:srgbClr val="FFFFFF"/>
          </a:solidFill>
          <a:ln xmlns:a="http://schemas.openxmlformats.org/drawingml/2006/main" w="9525">
            <a:solidFill>
              <a:srgbClr val="D8D2C8"/>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bddf49c0c7343e3"/>
          <a:stretch xmlns:a="http://schemas.openxmlformats.org/drawingml/2006/main"/>
        </p:blipFill>
        <p:spPr>
          <a:xfrm xmlns:a="http://schemas.openxmlformats.org/drawingml/2006/main">
            <a:off x="8305800" y="2647950"/>
            <a:ext cx="8686800" cy="5791200"/>
          </a:xfrm>
          <a:prstGeom xmlns:a="http://schemas.openxmlformats.org/drawingml/2006/main" prst="rect">
            <a:avLst/>
          </a:prstGeom>
        </p:spPr>
      </p:pic>
    </p:spTree>
    <p:extLst>
      <p:ext uri="{BB962C8B-B14F-4D97-AF65-F5344CB8AC3E}">
        <p14:creationId xmlns:p14="http://schemas.microsoft.com/office/powerpoint/2010/main" val="2116929921"/>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C8D9E22-7F7F-47FA-8750-AEC29100F018}"/>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DD35B8-F903-4188-86AB-0EE50BE7E7CC}"/>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Design</a:t>
            </a:r>
          </a:p>
        </p:txBody>
      </p:sp>
      <p:sp>
        <p:nvSpPr>
          <p:cNvPr id="3" name="">
            <a:extLst xmlns:a="http://schemas.openxmlformats.org/drawingml/2006/main">
              <a:ext uri="{FF2B5EF4-FFF2-40B4-BE49-F238E27FC236}">
                <a16:creationId xmlns:a16="http://schemas.microsoft.com/office/drawing/2014/main" id="{7B6A2E61-06D7-446F-B3A5-D70550040CB4}"/>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746F04-55D5-42B1-806A-5062FE896F8C}"/>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E808AE5F-21AE-42AA-A5AF-EE800CF7B983}"/>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9/20</a:t>
            </a:r>
          </a:p>
        </p:txBody>
      </p:sp>
      <p:sp>
        <p:nvSpPr>
          <p:cNvPr id="6" name="">
            <a:extLst xmlns:a="http://schemas.openxmlformats.org/drawingml/2006/main">
              <a:ext uri="{FF2B5EF4-FFF2-40B4-BE49-F238E27FC236}">
                <a16:creationId xmlns:a16="http://schemas.microsoft.com/office/drawing/2014/main" id="{F662113A-BF14-4D52-A510-21B13A50F14B}"/>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Data Flow Diagram (DFD)</a:t>
            </a:r>
          </a:p>
        </p:txBody>
      </p:sp>
      <p:sp>
        <p:nvSpPr>
          <p:cNvPr id="7" name="">
            <a:extLst xmlns:a="http://schemas.openxmlformats.org/drawingml/2006/main">
              <a:ext uri="{FF2B5EF4-FFF2-40B4-BE49-F238E27FC236}">
                <a16:creationId xmlns:a16="http://schemas.microsoft.com/office/drawing/2014/main" id="{7771642B-3417-4B22-B6A7-92D3DA08F2A5}"/>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CA89550-3E5E-4EE9-B4BC-69D611B2D576}"/>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level 0 DFD shows how student requests, admin actions, database records, file storage, and AI responses move through the platform.</a:t>
            </a:r>
          </a:p>
        </p:txBody>
      </p:sp>
      <p:sp>
        <p:nvSpPr>
          <p:cNvPr id="9" name="">
            <a:extLst xmlns:a="http://schemas.openxmlformats.org/drawingml/2006/main">
              <a:ext uri="{FF2B5EF4-FFF2-40B4-BE49-F238E27FC236}">
                <a16:creationId xmlns:a16="http://schemas.microsoft.com/office/drawing/2014/main" id="{04579A3D-D06C-4141-948D-710A44633AD4}"/>
              </a:ext>
            </a:extLst>
          </p:cNvPr>
          <p:cNvSpPr>
            <a:spLocks xmlns:a="http://schemas.openxmlformats.org/drawingml/2006/main" noGrp="1"/>
          </p:cNvSpPr>
          <p:nvPr/>
        </p:nvSpPr>
        <p:spPr>
          <a:xfrm xmlns:a="http://schemas.openxmlformats.org/drawingml/2006/main">
            <a:off x="800100" y="2343150"/>
            <a:ext cx="16687800" cy="6096000"/>
          </a:xfrm>
          <a:prstGeom xmlns:a="http://schemas.openxmlformats.org/drawingml/2006/main" prst="roundRect">
            <a:avLst>
              <a:gd name="adj" fmla="val 1250"/>
            </a:avLst>
          </a:prstGeom>
          <a:solidFill xmlns:a="http://schemas.openxmlformats.org/drawingml/2006/main">
            <a:srgbClr val="FFFFFF"/>
          </a:solidFill>
          <a:ln xmlns:a="http://schemas.openxmlformats.org/drawingml/2006/main" w="9525">
            <a:solidFill>
              <a:srgbClr val="D8D2C8"/>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7711d687c9e4ba0"/>
          <a:stretch xmlns:a="http://schemas.openxmlformats.org/drawingml/2006/main"/>
        </p:blipFill>
        <p:spPr>
          <a:xfrm xmlns:a="http://schemas.openxmlformats.org/drawingml/2006/main">
            <a:off x="5143500" y="2686050"/>
            <a:ext cx="8001000" cy="5334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A583CC6-88BB-4176-87C4-0E520652E96C}"/>
              </a:ext>
            </a:extLst>
          </p:cNvPr>
          <p:cNvSpPr>
            <a:spLocks xmlns:a="http://schemas.openxmlformats.org/drawingml/2006/main" noGrp="1"/>
          </p:cNvSpPr>
          <p:nvPr/>
        </p:nvSpPr>
        <p:spPr>
          <a:xfrm xmlns:a="http://schemas.openxmlformats.org/drawingml/2006/main">
            <a:off x="800100" y="8667750"/>
            <a:ext cx="16687800" cy="647700"/>
          </a:xfrm>
          <a:prstGeom xmlns:a="http://schemas.openxmlformats.org/drawingml/2006/main" prst="roundRect">
            <a:avLst>
              <a:gd name="adj" fmla="val 11765"/>
            </a:avLst>
          </a:prstGeom>
          <a:solidFill xmlns:a="http://schemas.openxmlformats.org/drawingml/2006/main">
            <a:srgbClr val="E8EEF8"/>
          </a:solidFill>
          <a:ln xmlns:a="http://schemas.openxmlformats.org/drawingml/2006/main" w="9525">
            <a:solidFill>
              <a:srgbClr val="D8D2C8"/>
            </a:solidFill>
          </a:ln>
        </p:spPr>
      </p:sp>
      <p:sp>
        <p:nvSpPr>
          <p:cNvPr id="12" name="">
            <a:extLst xmlns:a="http://schemas.openxmlformats.org/drawingml/2006/main">
              <a:ext uri="{FF2B5EF4-FFF2-40B4-BE49-F238E27FC236}">
                <a16:creationId xmlns:a16="http://schemas.microsoft.com/office/drawing/2014/main" id="{BB1D2CAA-8D2C-4BCB-946B-7088C23180A3}"/>
              </a:ext>
            </a:extLst>
          </p:cNvPr>
          <p:cNvSpPr>
            <a:spLocks xmlns:a="http://schemas.openxmlformats.org/drawingml/2006/main" noGrp="1"/>
          </p:cNvSpPr>
          <p:nvPr/>
        </p:nvSpPr>
        <p:spPr>
          <a:xfrm xmlns:a="http://schemas.openxmlformats.org/drawingml/2006/main">
            <a:off x="1104900" y="8858250"/>
            <a:ext cx="16192500" cy="28575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94444"/>
          </a:bodyPr>
          <a:lstStyle xmlns:a="http://schemas.openxmlformats.org/drawingml/2006/main"/>
          <a:p xmlns:a="http://schemas.openxmlformats.org/drawingml/2006/main">
            <a:pPr>
              <a:defRPr sz="1350" b="1">
                <a:solidFill>
                  <a:srgbClr val="1F3061"/>
                </a:solidFill>
                <a:latin typeface="Trebuchet MS"/>
                <a:ea typeface="Trebuchet MS"/>
                <a:cs typeface="Trebuchet MS"/>
              </a:defRPr>
            </a:pPr>
            <a:r>
              <a:t>Level 1 further decomposes the platform into Authentication, Content Management, Study Tracking, Practice System, AI Tutor, and Admin Analytics processes.</a:t>
            </a:r>
          </a:p>
        </p:txBody>
      </p:sp>
    </p:spTree>
    <p:extLst>
      <p:ext uri="{BB962C8B-B14F-4D97-AF65-F5344CB8AC3E}">
        <p14:creationId xmlns:p14="http://schemas.microsoft.com/office/powerpoint/2010/main" val="653188773"/>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017EB8-8F42-4702-B100-6F15D5CD9218}"/>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0ABEB1-0722-4A3D-8B9D-E794092580BB}"/>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Design</a:t>
            </a:r>
          </a:p>
        </p:txBody>
      </p:sp>
      <p:sp>
        <p:nvSpPr>
          <p:cNvPr id="3" name="">
            <a:extLst xmlns:a="http://schemas.openxmlformats.org/drawingml/2006/main">
              <a:ext uri="{FF2B5EF4-FFF2-40B4-BE49-F238E27FC236}">
                <a16:creationId xmlns:a16="http://schemas.microsoft.com/office/drawing/2014/main" id="{352555FE-E357-4470-879A-02A6A1B527A7}"/>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3DB2D4-8106-431D-9C0D-C98691B6AE56}"/>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90E532AE-A1AF-46BA-85DA-97049A093FB1}"/>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10/20</a:t>
            </a:r>
          </a:p>
        </p:txBody>
      </p:sp>
      <p:sp>
        <p:nvSpPr>
          <p:cNvPr id="6" name="">
            <a:extLst xmlns:a="http://schemas.openxmlformats.org/drawingml/2006/main">
              <a:ext uri="{FF2B5EF4-FFF2-40B4-BE49-F238E27FC236}">
                <a16:creationId xmlns:a16="http://schemas.microsoft.com/office/drawing/2014/main" id="{60175869-284C-46F2-B1BC-E27F9333B436}"/>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Entity Relationship Diagram (ER Diagram)</a:t>
            </a:r>
          </a:p>
        </p:txBody>
      </p:sp>
      <p:sp>
        <p:nvSpPr>
          <p:cNvPr id="7" name="">
            <a:extLst xmlns:a="http://schemas.openxmlformats.org/drawingml/2006/main">
              <a:ext uri="{FF2B5EF4-FFF2-40B4-BE49-F238E27FC236}">
                <a16:creationId xmlns:a16="http://schemas.microsoft.com/office/drawing/2014/main" id="{CAA5920D-5853-4260-B44E-965A90DE6CA8}"/>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ABF217-B75F-4CFD-BE1B-78DA5463D715}"/>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database model connects core academic entities such as users, subjects, units, resources, quizzes, progress, and result profiles.</a:t>
            </a:r>
          </a:p>
        </p:txBody>
      </p:sp>
      <p:sp>
        <p:nvSpPr>
          <p:cNvPr id="9" name="">
            <a:extLst xmlns:a="http://schemas.openxmlformats.org/drawingml/2006/main">
              <a:ext uri="{FF2B5EF4-FFF2-40B4-BE49-F238E27FC236}">
                <a16:creationId xmlns:a16="http://schemas.microsoft.com/office/drawing/2014/main" id="{E231C8F8-84AE-4EDE-A735-D01FEF4BF96A}"/>
              </a:ext>
            </a:extLst>
          </p:cNvPr>
          <p:cNvSpPr>
            <a:spLocks xmlns:a="http://schemas.openxmlformats.org/drawingml/2006/main" noGrp="1"/>
          </p:cNvSpPr>
          <p:nvPr/>
        </p:nvSpPr>
        <p:spPr>
          <a:xfrm xmlns:a="http://schemas.openxmlformats.org/drawingml/2006/main">
            <a:off x="533400" y="2324100"/>
            <a:ext cx="17221200" cy="6705600"/>
          </a:xfrm>
          <a:prstGeom xmlns:a="http://schemas.openxmlformats.org/drawingml/2006/main" prst="roundRect">
            <a:avLst>
              <a:gd name="adj" fmla="val 1136"/>
            </a:avLst>
          </a:prstGeom>
          <a:solidFill xmlns:a="http://schemas.openxmlformats.org/drawingml/2006/main">
            <a:srgbClr val="FFFFFF"/>
          </a:solidFill>
          <a:ln xmlns:a="http://schemas.openxmlformats.org/drawingml/2006/main" w="9525">
            <a:solidFill>
              <a:srgbClr val="D8D2C8"/>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29a8cff27af425f"/>
          <a:stretch xmlns:a="http://schemas.openxmlformats.org/drawingml/2006/main"/>
        </p:blipFill>
        <p:spPr>
          <a:xfrm xmlns:a="http://schemas.openxmlformats.org/drawingml/2006/main">
            <a:off x="4514850" y="2590800"/>
            <a:ext cx="9258300" cy="6172200"/>
          </a:xfrm>
          <a:prstGeom xmlns:a="http://schemas.openxmlformats.org/drawingml/2006/main" prst="rect">
            <a:avLst/>
          </a:prstGeom>
        </p:spPr>
      </p:pic>
    </p:spTree>
    <p:extLst>
      <p:ext uri="{BB962C8B-B14F-4D97-AF65-F5344CB8AC3E}">
        <p14:creationId xmlns:p14="http://schemas.microsoft.com/office/powerpoint/2010/main" val="1616322928"/>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E37920-A1A7-4A84-9389-FD7DA55D0B7C}"/>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D34399-4996-4DEE-BA2E-E98ECA74E903}"/>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Build Stack</a:t>
            </a:r>
          </a:p>
        </p:txBody>
      </p:sp>
      <p:sp>
        <p:nvSpPr>
          <p:cNvPr id="3" name="">
            <a:extLst xmlns:a="http://schemas.openxmlformats.org/drawingml/2006/main">
              <a:ext uri="{FF2B5EF4-FFF2-40B4-BE49-F238E27FC236}">
                <a16:creationId xmlns:a16="http://schemas.microsoft.com/office/drawing/2014/main" id="{54BA955C-CB62-4C7E-A47A-B75B11007534}"/>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0C4BDB-9E64-4538-8C25-E0C625671ED2}"/>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E8C66EB3-9ED9-463F-AE3D-7B9EE5BBF533}"/>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11/20</a:t>
            </a:r>
          </a:p>
        </p:txBody>
      </p:sp>
      <p:sp>
        <p:nvSpPr>
          <p:cNvPr id="6" name="">
            <a:extLst xmlns:a="http://schemas.openxmlformats.org/drawingml/2006/main">
              <a:ext uri="{FF2B5EF4-FFF2-40B4-BE49-F238E27FC236}">
                <a16:creationId xmlns:a16="http://schemas.microsoft.com/office/drawing/2014/main" id="{7664F818-312A-4336-A9FE-1F101914EDA9}"/>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Technology Stack</a:t>
            </a:r>
          </a:p>
        </p:txBody>
      </p:sp>
      <p:sp>
        <p:nvSpPr>
          <p:cNvPr id="7" name="">
            <a:extLst xmlns:a="http://schemas.openxmlformats.org/drawingml/2006/main">
              <a:ext uri="{FF2B5EF4-FFF2-40B4-BE49-F238E27FC236}">
                <a16:creationId xmlns:a16="http://schemas.microsoft.com/office/drawing/2014/main" id="{AEC8D0F1-ABF5-4FA7-BBDC-6E0AF78998F0}"/>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2786B7C-7AC3-498E-9C37-03FBC8A1E62B}"/>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GradPath uses a modern JavaScript-based stack with cloud storage and AI integration to support both student and admin workflows.</a:t>
            </a:r>
          </a:p>
        </p:txBody>
      </p:sp>
      <p:sp>
        <p:nvSpPr>
          <p:cNvPr id="9" name="">
            <a:extLst xmlns:a="http://schemas.openxmlformats.org/drawingml/2006/main">
              <a:ext uri="{FF2B5EF4-FFF2-40B4-BE49-F238E27FC236}">
                <a16:creationId xmlns:a16="http://schemas.microsoft.com/office/drawing/2014/main" id="{51254750-CFB0-46A4-914D-448BD9C65CB6}"/>
              </a:ext>
            </a:extLst>
          </p:cNvPr>
          <p:cNvSpPr>
            <a:spLocks xmlns:a="http://schemas.openxmlformats.org/drawingml/2006/main" noGrp="1"/>
          </p:cNvSpPr>
          <p:nvPr/>
        </p:nvSpPr>
        <p:spPr>
          <a:xfrm xmlns:a="http://schemas.openxmlformats.org/drawingml/2006/main">
            <a:off x="800100" y="2762250"/>
            <a:ext cx="3333750" cy="4229100"/>
          </a:xfrm>
          <a:prstGeom xmlns:a="http://schemas.openxmlformats.org/drawingml/2006/main" prst="roundRect">
            <a:avLst>
              <a:gd name="adj" fmla="val 2286"/>
            </a:avLst>
          </a:prstGeom>
          <a:solidFill xmlns:a="http://schemas.openxmlformats.org/drawingml/2006/main">
            <a:srgbClr val="E8F0E2"/>
          </a:solidFill>
          <a:ln xmlns:a="http://schemas.openxmlformats.org/drawingml/2006/main" w="9525">
            <a:solidFill>
              <a:srgbClr val="D8D2C8"/>
            </a:solidFill>
          </a:ln>
        </p:spPr>
      </p:sp>
      <p:sp>
        <p:nvSpPr>
          <p:cNvPr id="10" name="">
            <a:extLst xmlns:a="http://schemas.openxmlformats.org/drawingml/2006/main">
              <a:ext uri="{FF2B5EF4-FFF2-40B4-BE49-F238E27FC236}">
                <a16:creationId xmlns:a16="http://schemas.microsoft.com/office/drawing/2014/main" id="{08FE09E9-0444-4A8B-9918-7505A039FE19}"/>
              </a:ext>
            </a:extLst>
          </p:cNvPr>
          <p:cNvSpPr>
            <a:spLocks xmlns:a="http://schemas.openxmlformats.org/drawingml/2006/main" noGrp="1"/>
          </p:cNvSpPr>
          <p:nvPr/>
        </p:nvSpPr>
        <p:spPr>
          <a:xfrm xmlns:a="http://schemas.openxmlformats.org/drawingml/2006/main">
            <a:off x="1047750" y="3009900"/>
            <a:ext cx="177165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Frontend</a:t>
            </a:r>
          </a:p>
        </p:txBody>
      </p:sp>
      <p:sp>
        <p:nvSpPr>
          <p:cNvPr id="11" name="">
            <a:extLst xmlns:a="http://schemas.openxmlformats.org/drawingml/2006/main">
              <a:ext uri="{FF2B5EF4-FFF2-40B4-BE49-F238E27FC236}">
                <a16:creationId xmlns:a16="http://schemas.microsoft.com/office/drawing/2014/main" id="{DB7DBDD2-B7A8-487B-81E1-FC1A71E35E20}"/>
              </a:ext>
            </a:extLst>
          </p:cNvPr>
          <p:cNvSpPr>
            <a:spLocks xmlns:a="http://schemas.openxmlformats.org/drawingml/2006/main" noGrp="1"/>
          </p:cNvSpPr>
          <p:nvPr/>
        </p:nvSpPr>
        <p:spPr>
          <a:xfrm xmlns:a="http://schemas.openxmlformats.org/drawingml/2006/main">
            <a:off x="1066800" y="3619500"/>
            <a:ext cx="2800350" cy="285750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b="0">
                <a:solidFill>
                  <a:srgbClr val="101828"/>
                </a:solidFill>
                <a:latin typeface="Trebuchet MS"/>
                <a:ea typeface="Trebuchet MS"/>
                <a:cs typeface="Trebuchet MS"/>
              </a:defRPr>
            </a:pPr>
            <a:r>
              <a:t>- Next.js 16</a:t>
            </a:r>
          </a:p>
          <a:p xmlns:a="http://schemas.openxmlformats.org/drawingml/2006/main">
            <a:pPr>
              <a:defRPr sz="1725" b="0">
                <a:solidFill>
                  <a:srgbClr val="101828"/>
                </a:solidFill>
                <a:latin typeface="Trebuchet MS"/>
                <a:ea typeface="Trebuchet MS"/>
                <a:cs typeface="Trebuchet MS"/>
              </a:defRPr>
            </a:pPr>
            <a:r>
              <a:t>- React 19</a:t>
            </a:r>
          </a:p>
          <a:p xmlns:a="http://schemas.openxmlformats.org/drawingml/2006/main">
            <a:pPr>
              <a:defRPr sz="1725" b="0">
                <a:solidFill>
                  <a:srgbClr val="101828"/>
                </a:solidFill>
                <a:latin typeface="Trebuchet MS"/>
                <a:ea typeface="Trebuchet MS"/>
                <a:cs typeface="Trebuchet MS"/>
              </a:defRPr>
            </a:pPr>
            <a:r>
              <a:t>- TypeScript</a:t>
            </a:r>
          </a:p>
          <a:p xmlns:a="http://schemas.openxmlformats.org/drawingml/2006/main">
            <a:pPr>
              <a:defRPr sz="1725" b="0">
                <a:solidFill>
                  <a:srgbClr val="101828"/>
                </a:solidFill>
                <a:latin typeface="Trebuchet MS"/>
                <a:ea typeface="Trebuchet MS"/>
                <a:cs typeface="Trebuchet MS"/>
              </a:defRPr>
            </a:pPr>
            <a:r>
              <a:t>- Tailwind CSS</a:t>
            </a:r>
          </a:p>
        </p:txBody>
      </p:sp>
      <p:sp>
        <p:nvSpPr>
          <p:cNvPr id="12" name="">
            <a:extLst xmlns:a="http://schemas.openxmlformats.org/drawingml/2006/main">
              <a:ext uri="{FF2B5EF4-FFF2-40B4-BE49-F238E27FC236}">
                <a16:creationId xmlns:a16="http://schemas.microsoft.com/office/drawing/2014/main" id="{DFAAA844-21F2-48D0-A2A3-D477BAA24816}"/>
              </a:ext>
            </a:extLst>
          </p:cNvPr>
          <p:cNvSpPr>
            <a:spLocks xmlns:a="http://schemas.openxmlformats.org/drawingml/2006/main" noGrp="1"/>
          </p:cNvSpPr>
          <p:nvPr/>
        </p:nvSpPr>
        <p:spPr>
          <a:xfrm xmlns:a="http://schemas.openxmlformats.org/drawingml/2006/main">
            <a:off x="4933950" y="2762250"/>
            <a:ext cx="3333750" cy="4229100"/>
          </a:xfrm>
          <a:prstGeom xmlns:a="http://schemas.openxmlformats.org/drawingml/2006/main" prst="roundRect">
            <a:avLst>
              <a:gd name="adj" fmla="val 2286"/>
            </a:avLst>
          </a:prstGeom>
          <a:solidFill xmlns:a="http://schemas.openxmlformats.org/drawingml/2006/main">
            <a:srgbClr val="E8EEF8"/>
          </a:solidFill>
          <a:ln xmlns:a="http://schemas.openxmlformats.org/drawingml/2006/main" w="9525">
            <a:solidFill>
              <a:srgbClr val="D8D2C8"/>
            </a:solidFill>
          </a:ln>
        </p:spPr>
      </p:sp>
      <p:sp>
        <p:nvSpPr>
          <p:cNvPr id="13" name="">
            <a:extLst xmlns:a="http://schemas.openxmlformats.org/drawingml/2006/main">
              <a:ext uri="{FF2B5EF4-FFF2-40B4-BE49-F238E27FC236}">
                <a16:creationId xmlns:a16="http://schemas.microsoft.com/office/drawing/2014/main" id="{97C4FE3B-9A51-4CA2-A38A-98EFC97728C9}"/>
              </a:ext>
            </a:extLst>
          </p:cNvPr>
          <p:cNvSpPr>
            <a:spLocks xmlns:a="http://schemas.openxmlformats.org/drawingml/2006/main" noGrp="1"/>
          </p:cNvSpPr>
          <p:nvPr/>
        </p:nvSpPr>
        <p:spPr>
          <a:xfrm xmlns:a="http://schemas.openxmlformats.org/drawingml/2006/main">
            <a:off x="5181600" y="3009900"/>
            <a:ext cx="177165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Backend</a:t>
            </a:r>
          </a:p>
        </p:txBody>
      </p:sp>
      <p:sp>
        <p:nvSpPr>
          <p:cNvPr id="14" name="">
            <a:extLst xmlns:a="http://schemas.openxmlformats.org/drawingml/2006/main">
              <a:ext uri="{FF2B5EF4-FFF2-40B4-BE49-F238E27FC236}">
                <a16:creationId xmlns:a16="http://schemas.microsoft.com/office/drawing/2014/main" id="{384C6863-5234-467F-ACEB-3617833BB2C4}"/>
              </a:ext>
            </a:extLst>
          </p:cNvPr>
          <p:cNvSpPr>
            <a:spLocks xmlns:a="http://schemas.openxmlformats.org/drawingml/2006/main" noGrp="1"/>
          </p:cNvSpPr>
          <p:nvPr/>
        </p:nvSpPr>
        <p:spPr>
          <a:xfrm xmlns:a="http://schemas.openxmlformats.org/drawingml/2006/main">
            <a:off x="5200650" y="3619500"/>
            <a:ext cx="2800350" cy="285750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b="0">
                <a:solidFill>
                  <a:srgbClr val="101828"/>
                </a:solidFill>
                <a:latin typeface="Trebuchet MS"/>
                <a:ea typeface="Trebuchet MS"/>
                <a:cs typeface="Trebuchet MS"/>
              </a:defRPr>
            </a:pPr>
            <a:r>
              <a:t>- Node.js</a:t>
            </a:r>
          </a:p>
          <a:p xmlns:a="http://schemas.openxmlformats.org/drawingml/2006/main">
            <a:pPr>
              <a:defRPr sz="1725" b="0">
                <a:solidFill>
                  <a:srgbClr val="101828"/>
                </a:solidFill>
                <a:latin typeface="Trebuchet MS"/>
                <a:ea typeface="Trebuchet MS"/>
                <a:cs typeface="Trebuchet MS"/>
              </a:defRPr>
            </a:pPr>
            <a:r>
              <a:t>- Express</a:t>
            </a:r>
          </a:p>
          <a:p xmlns:a="http://schemas.openxmlformats.org/drawingml/2006/main">
            <a:pPr>
              <a:defRPr sz="1725" b="0">
                <a:solidFill>
                  <a:srgbClr val="101828"/>
                </a:solidFill>
                <a:latin typeface="Trebuchet MS"/>
                <a:ea typeface="Trebuchet MS"/>
                <a:cs typeface="Trebuchet MS"/>
              </a:defRPr>
            </a:pPr>
            <a:r>
              <a:t>- REST APIs</a:t>
            </a:r>
          </a:p>
          <a:p xmlns:a="http://schemas.openxmlformats.org/drawingml/2006/main">
            <a:pPr>
              <a:defRPr sz="1725" b="0">
                <a:solidFill>
                  <a:srgbClr val="101828"/>
                </a:solidFill>
                <a:latin typeface="Trebuchet MS"/>
                <a:ea typeface="Trebuchet MS"/>
                <a:cs typeface="Trebuchet MS"/>
              </a:defRPr>
            </a:pPr>
            <a:r>
              <a:t>- JWT Authentication</a:t>
            </a:r>
          </a:p>
        </p:txBody>
      </p:sp>
      <p:sp>
        <p:nvSpPr>
          <p:cNvPr id="15" name="">
            <a:extLst xmlns:a="http://schemas.openxmlformats.org/drawingml/2006/main">
              <a:ext uri="{FF2B5EF4-FFF2-40B4-BE49-F238E27FC236}">
                <a16:creationId xmlns:a16="http://schemas.microsoft.com/office/drawing/2014/main" id="{23501198-E48C-4487-B1C3-FCE3A109A51A}"/>
              </a:ext>
            </a:extLst>
          </p:cNvPr>
          <p:cNvSpPr>
            <a:spLocks xmlns:a="http://schemas.openxmlformats.org/drawingml/2006/main" noGrp="1"/>
          </p:cNvSpPr>
          <p:nvPr/>
        </p:nvSpPr>
        <p:spPr>
          <a:xfrm xmlns:a="http://schemas.openxmlformats.org/drawingml/2006/main">
            <a:off x="9067800" y="2762250"/>
            <a:ext cx="3333750" cy="4229100"/>
          </a:xfrm>
          <a:prstGeom xmlns:a="http://schemas.openxmlformats.org/drawingml/2006/main" prst="roundRect">
            <a:avLst>
              <a:gd name="adj" fmla="val 2286"/>
            </a:avLst>
          </a:prstGeom>
          <a:solidFill xmlns:a="http://schemas.openxmlformats.org/drawingml/2006/main">
            <a:srgbClr val="E8F0E2"/>
          </a:solidFill>
          <a:ln xmlns:a="http://schemas.openxmlformats.org/drawingml/2006/main" w="9525">
            <a:solidFill>
              <a:srgbClr val="D8D2C8"/>
            </a:solidFill>
          </a:ln>
        </p:spPr>
      </p:sp>
      <p:sp>
        <p:nvSpPr>
          <p:cNvPr id="16" name="">
            <a:extLst xmlns:a="http://schemas.openxmlformats.org/drawingml/2006/main">
              <a:ext uri="{FF2B5EF4-FFF2-40B4-BE49-F238E27FC236}">
                <a16:creationId xmlns:a16="http://schemas.microsoft.com/office/drawing/2014/main" id="{451609F4-AA32-4C4F-A948-7169B520037A}"/>
              </a:ext>
            </a:extLst>
          </p:cNvPr>
          <p:cNvSpPr>
            <a:spLocks xmlns:a="http://schemas.openxmlformats.org/drawingml/2006/main" noGrp="1"/>
          </p:cNvSpPr>
          <p:nvPr/>
        </p:nvSpPr>
        <p:spPr>
          <a:xfrm xmlns:a="http://schemas.openxmlformats.org/drawingml/2006/main">
            <a:off x="9315450" y="3009900"/>
            <a:ext cx="177165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Data Layer</a:t>
            </a:r>
          </a:p>
        </p:txBody>
      </p:sp>
      <p:sp>
        <p:nvSpPr>
          <p:cNvPr id="17" name="">
            <a:extLst xmlns:a="http://schemas.openxmlformats.org/drawingml/2006/main">
              <a:ext uri="{FF2B5EF4-FFF2-40B4-BE49-F238E27FC236}">
                <a16:creationId xmlns:a16="http://schemas.microsoft.com/office/drawing/2014/main" id="{79DD858E-2BD8-4385-8732-60C2959DA240}"/>
              </a:ext>
            </a:extLst>
          </p:cNvPr>
          <p:cNvSpPr>
            <a:spLocks xmlns:a="http://schemas.openxmlformats.org/drawingml/2006/main" noGrp="1"/>
          </p:cNvSpPr>
          <p:nvPr/>
        </p:nvSpPr>
        <p:spPr>
          <a:xfrm xmlns:a="http://schemas.openxmlformats.org/drawingml/2006/main">
            <a:off x="9334500" y="3619500"/>
            <a:ext cx="2800350" cy="285750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b="0">
                <a:solidFill>
                  <a:srgbClr val="101828"/>
                </a:solidFill>
                <a:latin typeface="Trebuchet MS"/>
                <a:ea typeface="Trebuchet MS"/>
                <a:cs typeface="Trebuchet MS"/>
              </a:defRPr>
            </a:pPr>
            <a:r>
              <a:t>- MongoDB</a:t>
            </a:r>
          </a:p>
          <a:p xmlns:a="http://schemas.openxmlformats.org/drawingml/2006/main">
            <a:pPr>
              <a:defRPr sz="1725" b="0">
                <a:solidFill>
                  <a:srgbClr val="101828"/>
                </a:solidFill>
                <a:latin typeface="Trebuchet MS"/>
                <a:ea typeface="Trebuchet MS"/>
                <a:cs typeface="Trebuchet MS"/>
              </a:defRPr>
            </a:pPr>
            <a:r>
              <a:t>- Mongoose</a:t>
            </a:r>
          </a:p>
          <a:p xmlns:a="http://schemas.openxmlformats.org/drawingml/2006/main">
            <a:pPr>
              <a:defRPr sz="1725" b="0">
                <a:solidFill>
                  <a:srgbClr val="101828"/>
                </a:solidFill>
                <a:latin typeface="Trebuchet MS"/>
                <a:ea typeface="Trebuchet MS"/>
                <a:cs typeface="Trebuchet MS"/>
              </a:defRPr>
            </a:pPr>
            <a:r>
              <a:t>- Structured Collections</a:t>
            </a:r>
          </a:p>
          <a:p xmlns:a="http://schemas.openxmlformats.org/drawingml/2006/main">
            <a:pPr>
              <a:defRPr sz="1725" b="0">
                <a:solidFill>
                  <a:srgbClr val="101828"/>
                </a:solidFill>
                <a:latin typeface="Trebuchet MS"/>
                <a:ea typeface="Trebuchet MS"/>
                <a:cs typeface="Trebuchet MS"/>
              </a:defRPr>
            </a:pPr>
            <a:r>
              <a:t>- Progress &amp; Result Data</a:t>
            </a:r>
          </a:p>
        </p:txBody>
      </p:sp>
      <p:sp>
        <p:nvSpPr>
          <p:cNvPr id="18" name="">
            <a:extLst xmlns:a="http://schemas.openxmlformats.org/drawingml/2006/main">
              <a:ext uri="{FF2B5EF4-FFF2-40B4-BE49-F238E27FC236}">
                <a16:creationId xmlns:a16="http://schemas.microsoft.com/office/drawing/2014/main" id="{A2BC5A56-97E8-449A-BD77-924942A08F9D}"/>
              </a:ext>
            </a:extLst>
          </p:cNvPr>
          <p:cNvSpPr>
            <a:spLocks xmlns:a="http://schemas.openxmlformats.org/drawingml/2006/main" noGrp="1"/>
          </p:cNvSpPr>
          <p:nvPr/>
        </p:nvSpPr>
        <p:spPr>
          <a:xfrm xmlns:a="http://schemas.openxmlformats.org/drawingml/2006/main">
            <a:off x="13201650" y="2762250"/>
            <a:ext cx="3333750" cy="4229100"/>
          </a:xfrm>
          <a:prstGeom xmlns:a="http://schemas.openxmlformats.org/drawingml/2006/main" prst="roundRect">
            <a:avLst>
              <a:gd name="adj" fmla="val 2286"/>
            </a:avLst>
          </a:prstGeom>
          <a:solidFill xmlns:a="http://schemas.openxmlformats.org/drawingml/2006/main">
            <a:srgbClr val="E8EEF8"/>
          </a:solidFill>
          <a:ln xmlns:a="http://schemas.openxmlformats.org/drawingml/2006/main" w="9525">
            <a:solidFill>
              <a:srgbClr val="D8D2C8"/>
            </a:solidFill>
          </a:ln>
        </p:spPr>
      </p:sp>
      <p:sp>
        <p:nvSpPr>
          <p:cNvPr id="19" name="">
            <a:extLst xmlns:a="http://schemas.openxmlformats.org/drawingml/2006/main">
              <a:ext uri="{FF2B5EF4-FFF2-40B4-BE49-F238E27FC236}">
                <a16:creationId xmlns:a16="http://schemas.microsoft.com/office/drawing/2014/main" id="{9D1634D5-866B-4398-9551-3780E4C108EC}"/>
              </a:ext>
            </a:extLst>
          </p:cNvPr>
          <p:cNvSpPr>
            <a:spLocks xmlns:a="http://schemas.openxmlformats.org/drawingml/2006/main" noGrp="1"/>
          </p:cNvSpPr>
          <p:nvPr/>
        </p:nvSpPr>
        <p:spPr>
          <a:xfrm xmlns:a="http://schemas.openxmlformats.org/drawingml/2006/main">
            <a:off x="13449300" y="3009900"/>
            <a:ext cx="177165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Services &amp; Tools</a:t>
            </a:r>
          </a:p>
        </p:txBody>
      </p:sp>
      <p:sp>
        <p:nvSpPr>
          <p:cNvPr id="20" name="">
            <a:extLst xmlns:a="http://schemas.openxmlformats.org/drawingml/2006/main">
              <a:ext uri="{FF2B5EF4-FFF2-40B4-BE49-F238E27FC236}">
                <a16:creationId xmlns:a16="http://schemas.microsoft.com/office/drawing/2014/main" id="{8A7F4BD2-9A80-46B3-885B-E8022DFF904E}"/>
              </a:ext>
            </a:extLst>
          </p:cNvPr>
          <p:cNvSpPr>
            <a:spLocks xmlns:a="http://schemas.openxmlformats.org/drawingml/2006/main" noGrp="1"/>
          </p:cNvSpPr>
          <p:nvPr/>
        </p:nvSpPr>
        <p:spPr>
          <a:xfrm xmlns:a="http://schemas.openxmlformats.org/drawingml/2006/main">
            <a:off x="13468350" y="3619500"/>
            <a:ext cx="2800350" cy="285750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b="0">
                <a:solidFill>
                  <a:srgbClr val="101828"/>
                </a:solidFill>
                <a:latin typeface="Trebuchet MS"/>
                <a:ea typeface="Trebuchet MS"/>
                <a:cs typeface="Trebuchet MS"/>
              </a:defRPr>
            </a:pPr>
            <a:r>
              <a:t>- Cloudinary</a:t>
            </a:r>
          </a:p>
          <a:p xmlns:a="http://schemas.openxmlformats.org/drawingml/2006/main">
            <a:pPr>
              <a:defRPr sz="1725" b="0">
                <a:solidFill>
                  <a:srgbClr val="101828"/>
                </a:solidFill>
                <a:latin typeface="Trebuchet MS"/>
                <a:ea typeface="Trebuchet MS"/>
                <a:cs typeface="Trebuchet MS"/>
              </a:defRPr>
            </a:pPr>
            <a:r>
              <a:t>- Gemini API</a:t>
            </a:r>
          </a:p>
          <a:p xmlns:a="http://schemas.openxmlformats.org/drawingml/2006/main">
            <a:pPr>
              <a:defRPr sz="1725" b="0">
                <a:solidFill>
                  <a:srgbClr val="101828"/>
                </a:solidFill>
                <a:latin typeface="Trebuchet MS"/>
                <a:ea typeface="Trebuchet MS"/>
                <a:cs typeface="Trebuchet MS"/>
              </a:defRPr>
            </a:pPr>
            <a:r>
              <a:t>- Git</a:t>
            </a:r>
          </a:p>
          <a:p xmlns:a="http://schemas.openxmlformats.org/drawingml/2006/main">
            <a:pPr>
              <a:defRPr sz="1725" b="0">
                <a:solidFill>
                  <a:srgbClr val="101828"/>
                </a:solidFill>
                <a:latin typeface="Trebuchet MS"/>
                <a:ea typeface="Trebuchet MS"/>
                <a:cs typeface="Trebuchet MS"/>
              </a:defRPr>
            </a:pPr>
            <a:r>
              <a:t>- VS Code &amp; Browser</a:t>
            </a:r>
          </a:p>
        </p:txBody>
      </p:sp>
      <p:sp>
        <p:nvSpPr>
          <p:cNvPr id="21" name="">
            <a:extLst xmlns:a="http://schemas.openxmlformats.org/drawingml/2006/main">
              <a:ext uri="{FF2B5EF4-FFF2-40B4-BE49-F238E27FC236}">
                <a16:creationId xmlns:a16="http://schemas.microsoft.com/office/drawing/2014/main" id="{41D28A8D-8998-4BD6-869E-3A6F283A29AC}"/>
              </a:ext>
            </a:extLst>
          </p:cNvPr>
          <p:cNvSpPr>
            <a:spLocks xmlns:a="http://schemas.openxmlformats.org/drawingml/2006/main" noGrp="1"/>
          </p:cNvSpPr>
          <p:nvPr/>
        </p:nvSpPr>
        <p:spPr>
          <a:xfrm xmlns:a="http://schemas.openxmlformats.org/drawingml/2006/main">
            <a:off x="800100" y="7448550"/>
            <a:ext cx="157353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8D2C8"/>
            </a:solidFill>
          </a:ln>
        </p:spPr>
      </p:sp>
      <p:sp>
        <p:nvSpPr>
          <p:cNvPr id="22" name="">
            <a:extLst xmlns:a="http://schemas.openxmlformats.org/drawingml/2006/main">
              <a:ext uri="{FF2B5EF4-FFF2-40B4-BE49-F238E27FC236}">
                <a16:creationId xmlns:a16="http://schemas.microsoft.com/office/drawing/2014/main" id="{CFE58FB3-0E76-455C-8E20-E44EC8A2DC3C}"/>
              </a:ext>
            </a:extLst>
          </p:cNvPr>
          <p:cNvSpPr>
            <a:spLocks xmlns:a="http://schemas.openxmlformats.org/drawingml/2006/main" noGrp="1"/>
          </p:cNvSpPr>
          <p:nvPr/>
        </p:nvSpPr>
        <p:spPr>
          <a:xfrm xmlns:a="http://schemas.openxmlformats.org/drawingml/2006/main">
            <a:off x="1104900" y="7791450"/>
            <a:ext cx="15125700" cy="4381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95484"/>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This stack supports modular development, responsive UI delivery, secure APIs, flexible document storage, and AI-assisted academic features in a single web platform.</a:t>
            </a:r>
          </a:p>
        </p:txBody>
      </p:sp>
    </p:spTree>
    <p:extLst>
      <p:ext uri="{BB962C8B-B14F-4D97-AF65-F5344CB8AC3E}">
        <p14:creationId xmlns:p14="http://schemas.microsoft.com/office/powerpoint/2010/main" val="582993095"/>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E90B1D-3AA8-44BB-B322-8CBCDFEA35CC}"/>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80CDCE-86A8-4284-A17E-E5593ECA7B9A}"/>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Working Model</a:t>
            </a:r>
          </a:p>
        </p:txBody>
      </p:sp>
      <p:sp>
        <p:nvSpPr>
          <p:cNvPr id="3" name="">
            <a:extLst xmlns:a="http://schemas.openxmlformats.org/drawingml/2006/main">
              <a:ext uri="{FF2B5EF4-FFF2-40B4-BE49-F238E27FC236}">
                <a16:creationId xmlns:a16="http://schemas.microsoft.com/office/drawing/2014/main" id="{5527FB64-9341-42C4-A4BD-6BE6B0D3CC42}"/>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895A4A-B704-4627-8BF2-9DBC538259CE}"/>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A19A6B5D-24F8-4BA3-BCA7-00556D02DF08}"/>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12/20</a:t>
            </a:r>
          </a:p>
        </p:txBody>
      </p:sp>
      <p:sp>
        <p:nvSpPr>
          <p:cNvPr id="6" name="">
            <a:extLst xmlns:a="http://schemas.openxmlformats.org/drawingml/2006/main">
              <a:ext uri="{FF2B5EF4-FFF2-40B4-BE49-F238E27FC236}">
                <a16:creationId xmlns:a16="http://schemas.microsoft.com/office/drawing/2014/main" id="{9D898332-A501-4266-A7EE-77A8F1C86FD2}"/>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Methodology / Working</a:t>
            </a:r>
          </a:p>
        </p:txBody>
      </p:sp>
      <p:sp>
        <p:nvSpPr>
          <p:cNvPr id="7" name="">
            <a:extLst xmlns:a="http://schemas.openxmlformats.org/drawingml/2006/main">
              <a:ext uri="{FF2B5EF4-FFF2-40B4-BE49-F238E27FC236}">
                <a16:creationId xmlns:a16="http://schemas.microsoft.com/office/drawing/2014/main" id="{B7DBA20B-09BE-446E-B145-AF0B0084DBF4}"/>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F642A9B-11CF-496C-8D9A-766FC50F57BE}"/>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98148"/>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project was developed incrementally so each academic module could be designed, implemented, tested, and then integrated into the larger platform.</a:t>
            </a:r>
          </a:p>
        </p:txBody>
      </p:sp>
      <p:sp>
        <p:nvSpPr>
          <p:cNvPr id="9" name="">
            <a:extLst xmlns:a="http://schemas.openxmlformats.org/drawingml/2006/main">
              <a:ext uri="{FF2B5EF4-FFF2-40B4-BE49-F238E27FC236}">
                <a16:creationId xmlns:a16="http://schemas.microsoft.com/office/drawing/2014/main" id="{68DF765C-276D-42D3-9A25-7613D8548B8E}"/>
              </a:ext>
            </a:extLst>
          </p:cNvPr>
          <p:cNvSpPr>
            <a:spLocks xmlns:a="http://schemas.openxmlformats.org/drawingml/2006/main" noGrp="1"/>
          </p:cNvSpPr>
          <p:nvPr/>
        </p:nvSpPr>
        <p:spPr>
          <a:xfrm xmlns:a="http://schemas.openxmlformats.org/drawingml/2006/main">
            <a:off x="1809750" y="3200400"/>
            <a:ext cx="38100" cy="419100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FC24F94-5E45-4624-BD87-15BE02BBADF7}"/>
              </a:ext>
            </a:extLst>
          </p:cNvPr>
          <p:cNvSpPr>
            <a:spLocks xmlns:a="http://schemas.openxmlformats.org/drawingml/2006/main" noGrp="1"/>
          </p:cNvSpPr>
          <p:nvPr/>
        </p:nvSpPr>
        <p:spPr>
          <a:xfrm xmlns:a="http://schemas.openxmlformats.org/drawingml/2006/main">
            <a:off x="1143000" y="2857500"/>
            <a:ext cx="590550" cy="590550"/>
          </a:xfrm>
          <a:prstGeom xmlns:a="http://schemas.openxmlformats.org/drawingml/2006/main" prst="roundRect">
            <a:avLst>
              <a:gd name="adj" fmla="val 12903"/>
            </a:avLst>
          </a:prstGeom>
          <a:solidFill xmlns:a="http://schemas.openxmlformats.org/drawingml/2006/main">
            <a:srgbClr val="E8F0E2"/>
          </a:solidFill>
          <a:ln xmlns:a="http://schemas.openxmlformats.org/drawingml/2006/main" w="9525">
            <a:solidFill>
              <a:srgbClr val="D8D2C8"/>
            </a:solidFill>
          </a:ln>
        </p:spPr>
      </p:sp>
      <p:sp>
        <p:nvSpPr>
          <p:cNvPr id="11" name="">
            <a:extLst xmlns:a="http://schemas.openxmlformats.org/drawingml/2006/main">
              <a:ext uri="{FF2B5EF4-FFF2-40B4-BE49-F238E27FC236}">
                <a16:creationId xmlns:a16="http://schemas.microsoft.com/office/drawing/2014/main" id="{F7236369-C313-469B-B6CE-5ED84E88422B}"/>
              </a:ext>
            </a:extLst>
          </p:cNvPr>
          <p:cNvSpPr>
            <a:spLocks xmlns:a="http://schemas.openxmlformats.org/drawingml/2006/main" noGrp="1"/>
          </p:cNvSpPr>
          <p:nvPr/>
        </p:nvSpPr>
        <p:spPr>
          <a:xfrm xmlns:a="http://schemas.openxmlformats.org/drawingml/2006/main">
            <a:off x="1266825" y="2971800"/>
            <a:ext cx="342900" cy="28575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71702"/>
          </a:bodyPr>
          <a:lstStyle xmlns:a="http://schemas.openxmlformats.org/drawingml/2006/main"/>
          <a:p xmlns:a="http://schemas.openxmlformats.org/drawingml/2006/main">
            <a:pPr algn="ctr">
              <a:defRPr sz="1500" b="1">
                <a:solidFill>
                  <a:srgbClr val="1F3061"/>
                </a:solidFill>
                <a:latin typeface="Trebuchet MS"/>
                <a:ea typeface="Trebuchet MS"/>
                <a:cs typeface="Trebuchet MS"/>
              </a:defRPr>
            </a:pPr>
            <a:r>
              <a:t>01</a:t>
            </a:r>
          </a:p>
        </p:txBody>
      </p:sp>
      <p:sp>
        <p:nvSpPr>
          <p:cNvPr id="12" name="">
            <a:extLst xmlns:a="http://schemas.openxmlformats.org/drawingml/2006/main">
              <a:ext uri="{FF2B5EF4-FFF2-40B4-BE49-F238E27FC236}">
                <a16:creationId xmlns:a16="http://schemas.microsoft.com/office/drawing/2014/main" id="{410366D7-7719-4036-B9BC-13B99605E247}"/>
              </a:ext>
            </a:extLst>
          </p:cNvPr>
          <p:cNvSpPr>
            <a:spLocks xmlns:a="http://schemas.openxmlformats.org/drawingml/2006/main" noGrp="1"/>
          </p:cNvSpPr>
          <p:nvPr/>
        </p:nvSpPr>
        <p:spPr>
          <a:xfrm xmlns:a="http://schemas.openxmlformats.org/drawingml/2006/main">
            <a:off x="2038350" y="2819400"/>
            <a:ext cx="4953000" cy="6858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b="1">
                <a:solidFill>
                  <a:srgbClr val="334155"/>
                </a:solidFill>
                <a:latin typeface="Trebuchet MS"/>
                <a:ea typeface="Trebuchet MS"/>
                <a:cs typeface="Trebuchet MS"/>
              </a:defRPr>
            </a:pPr>
            <a:r>
              <a:t>Requirement analysis and module planning</a:t>
            </a:r>
          </a:p>
        </p:txBody>
      </p:sp>
      <p:sp>
        <p:nvSpPr>
          <p:cNvPr id="13" name="">
            <a:extLst xmlns:a="http://schemas.openxmlformats.org/drawingml/2006/main">
              <a:ext uri="{FF2B5EF4-FFF2-40B4-BE49-F238E27FC236}">
                <a16:creationId xmlns:a16="http://schemas.microsoft.com/office/drawing/2014/main" id="{D1665C6D-B9C9-43B8-8C5D-2E358AB54CDF}"/>
              </a:ext>
            </a:extLst>
          </p:cNvPr>
          <p:cNvSpPr>
            <a:spLocks xmlns:a="http://schemas.openxmlformats.org/drawingml/2006/main" noGrp="1"/>
          </p:cNvSpPr>
          <p:nvPr/>
        </p:nvSpPr>
        <p:spPr>
          <a:xfrm xmlns:a="http://schemas.openxmlformats.org/drawingml/2006/main">
            <a:off x="1143000" y="3810000"/>
            <a:ext cx="590550" cy="590550"/>
          </a:xfrm>
          <a:prstGeom xmlns:a="http://schemas.openxmlformats.org/drawingml/2006/main" prst="roundRect">
            <a:avLst>
              <a:gd name="adj" fmla="val 12903"/>
            </a:avLst>
          </a:prstGeom>
          <a:solidFill xmlns:a="http://schemas.openxmlformats.org/drawingml/2006/main">
            <a:srgbClr val="E8F0E2"/>
          </a:solidFill>
          <a:ln xmlns:a="http://schemas.openxmlformats.org/drawingml/2006/main" w="9525">
            <a:solidFill>
              <a:srgbClr val="D8D2C8"/>
            </a:solidFill>
          </a:ln>
        </p:spPr>
      </p:sp>
      <p:sp>
        <p:nvSpPr>
          <p:cNvPr id="14" name="">
            <a:extLst xmlns:a="http://schemas.openxmlformats.org/drawingml/2006/main">
              <a:ext uri="{FF2B5EF4-FFF2-40B4-BE49-F238E27FC236}">
                <a16:creationId xmlns:a16="http://schemas.microsoft.com/office/drawing/2014/main" id="{E5FB09C3-2905-4235-8B42-B59383024866}"/>
              </a:ext>
            </a:extLst>
          </p:cNvPr>
          <p:cNvSpPr>
            <a:spLocks xmlns:a="http://schemas.openxmlformats.org/drawingml/2006/main" noGrp="1"/>
          </p:cNvSpPr>
          <p:nvPr/>
        </p:nvSpPr>
        <p:spPr>
          <a:xfrm xmlns:a="http://schemas.openxmlformats.org/drawingml/2006/main">
            <a:off x="1266825" y="3924300"/>
            <a:ext cx="342900" cy="28575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71702"/>
          </a:bodyPr>
          <a:lstStyle xmlns:a="http://schemas.openxmlformats.org/drawingml/2006/main"/>
          <a:p xmlns:a="http://schemas.openxmlformats.org/drawingml/2006/main">
            <a:pPr algn="ctr">
              <a:defRPr sz="1500" b="1">
                <a:solidFill>
                  <a:srgbClr val="1F3061"/>
                </a:solidFill>
                <a:latin typeface="Trebuchet MS"/>
                <a:ea typeface="Trebuchet MS"/>
                <a:cs typeface="Trebuchet MS"/>
              </a:defRPr>
            </a:pPr>
            <a:r>
              <a:t>02</a:t>
            </a:r>
          </a:p>
        </p:txBody>
      </p:sp>
      <p:sp>
        <p:nvSpPr>
          <p:cNvPr id="15" name="">
            <a:extLst xmlns:a="http://schemas.openxmlformats.org/drawingml/2006/main">
              <a:ext uri="{FF2B5EF4-FFF2-40B4-BE49-F238E27FC236}">
                <a16:creationId xmlns:a16="http://schemas.microsoft.com/office/drawing/2014/main" id="{9DAB876E-59C5-4E17-9559-A64759FA3F20}"/>
              </a:ext>
            </a:extLst>
          </p:cNvPr>
          <p:cNvSpPr>
            <a:spLocks xmlns:a="http://schemas.openxmlformats.org/drawingml/2006/main" noGrp="1"/>
          </p:cNvSpPr>
          <p:nvPr/>
        </p:nvSpPr>
        <p:spPr>
          <a:xfrm xmlns:a="http://schemas.openxmlformats.org/drawingml/2006/main">
            <a:off x="2038350" y="3771900"/>
            <a:ext cx="4953000" cy="6858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b="1">
                <a:solidFill>
                  <a:srgbClr val="334155"/>
                </a:solidFill>
                <a:latin typeface="Trebuchet MS"/>
                <a:ea typeface="Trebuchet MS"/>
                <a:cs typeface="Trebuchet MS"/>
              </a:defRPr>
            </a:pPr>
            <a:r>
              <a:t>UI, database, and route design</a:t>
            </a:r>
          </a:p>
        </p:txBody>
      </p:sp>
      <p:sp>
        <p:nvSpPr>
          <p:cNvPr id="16" name="">
            <a:extLst xmlns:a="http://schemas.openxmlformats.org/drawingml/2006/main">
              <a:ext uri="{FF2B5EF4-FFF2-40B4-BE49-F238E27FC236}">
                <a16:creationId xmlns:a16="http://schemas.microsoft.com/office/drawing/2014/main" id="{0D59CFBF-DE87-48EA-B716-BC3F62821F9C}"/>
              </a:ext>
            </a:extLst>
          </p:cNvPr>
          <p:cNvSpPr>
            <a:spLocks xmlns:a="http://schemas.openxmlformats.org/drawingml/2006/main" noGrp="1"/>
          </p:cNvSpPr>
          <p:nvPr/>
        </p:nvSpPr>
        <p:spPr>
          <a:xfrm xmlns:a="http://schemas.openxmlformats.org/drawingml/2006/main">
            <a:off x="1143000" y="4762500"/>
            <a:ext cx="590550" cy="590550"/>
          </a:xfrm>
          <a:prstGeom xmlns:a="http://schemas.openxmlformats.org/drawingml/2006/main" prst="roundRect">
            <a:avLst>
              <a:gd name="adj" fmla="val 12903"/>
            </a:avLst>
          </a:prstGeom>
          <a:solidFill xmlns:a="http://schemas.openxmlformats.org/drawingml/2006/main">
            <a:srgbClr val="E8F0E2"/>
          </a:solidFill>
          <a:ln xmlns:a="http://schemas.openxmlformats.org/drawingml/2006/main" w="9525">
            <a:solidFill>
              <a:srgbClr val="D8D2C8"/>
            </a:solidFill>
          </a:ln>
        </p:spPr>
      </p:sp>
      <p:sp>
        <p:nvSpPr>
          <p:cNvPr id="17" name="">
            <a:extLst xmlns:a="http://schemas.openxmlformats.org/drawingml/2006/main">
              <a:ext uri="{FF2B5EF4-FFF2-40B4-BE49-F238E27FC236}">
                <a16:creationId xmlns:a16="http://schemas.microsoft.com/office/drawing/2014/main" id="{378DA7DA-9806-46F0-8DEE-3E30909E6A15}"/>
              </a:ext>
            </a:extLst>
          </p:cNvPr>
          <p:cNvSpPr>
            <a:spLocks xmlns:a="http://schemas.openxmlformats.org/drawingml/2006/main" noGrp="1"/>
          </p:cNvSpPr>
          <p:nvPr/>
        </p:nvSpPr>
        <p:spPr>
          <a:xfrm xmlns:a="http://schemas.openxmlformats.org/drawingml/2006/main">
            <a:off x="1266825" y="4876800"/>
            <a:ext cx="342900" cy="28575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71702"/>
          </a:bodyPr>
          <a:lstStyle xmlns:a="http://schemas.openxmlformats.org/drawingml/2006/main"/>
          <a:p xmlns:a="http://schemas.openxmlformats.org/drawingml/2006/main">
            <a:pPr algn="ctr">
              <a:defRPr sz="1500" b="1">
                <a:solidFill>
                  <a:srgbClr val="1F3061"/>
                </a:solidFill>
                <a:latin typeface="Trebuchet MS"/>
                <a:ea typeface="Trebuchet MS"/>
                <a:cs typeface="Trebuchet MS"/>
              </a:defRPr>
            </a:pPr>
            <a:r>
              <a:t>03</a:t>
            </a:r>
          </a:p>
        </p:txBody>
      </p:sp>
      <p:sp>
        <p:nvSpPr>
          <p:cNvPr id="18" name="">
            <a:extLst xmlns:a="http://schemas.openxmlformats.org/drawingml/2006/main">
              <a:ext uri="{FF2B5EF4-FFF2-40B4-BE49-F238E27FC236}">
                <a16:creationId xmlns:a16="http://schemas.microsoft.com/office/drawing/2014/main" id="{833B6316-0059-4CE8-8E4B-4EDC251EFC4C}"/>
              </a:ext>
            </a:extLst>
          </p:cNvPr>
          <p:cNvSpPr>
            <a:spLocks xmlns:a="http://schemas.openxmlformats.org/drawingml/2006/main" noGrp="1"/>
          </p:cNvSpPr>
          <p:nvPr/>
        </p:nvSpPr>
        <p:spPr>
          <a:xfrm xmlns:a="http://schemas.openxmlformats.org/drawingml/2006/main">
            <a:off x="2038350" y="4724400"/>
            <a:ext cx="4953000" cy="6858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b="1">
                <a:solidFill>
                  <a:srgbClr val="334155"/>
                </a:solidFill>
                <a:latin typeface="Trebuchet MS"/>
                <a:ea typeface="Trebuchet MS"/>
                <a:cs typeface="Trebuchet MS"/>
              </a:defRPr>
            </a:pPr>
            <a:r>
              <a:t>Module-wise development and testing</a:t>
            </a:r>
          </a:p>
        </p:txBody>
      </p:sp>
      <p:sp>
        <p:nvSpPr>
          <p:cNvPr id="19" name="">
            <a:extLst xmlns:a="http://schemas.openxmlformats.org/drawingml/2006/main">
              <a:ext uri="{FF2B5EF4-FFF2-40B4-BE49-F238E27FC236}">
                <a16:creationId xmlns:a16="http://schemas.microsoft.com/office/drawing/2014/main" id="{CD663DD7-4904-4946-A5E5-3EFA224DBB0B}"/>
              </a:ext>
            </a:extLst>
          </p:cNvPr>
          <p:cNvSpPr>
            <a:spLocks xmlns:a="http://schemas.openxmlformats.org/drawingml/2006/main" noGrp="1"/>
          </p:cNvSpPr>
          <p:nvPr/>
        </p:nvSpPr>
        <p:spPr>
          <a:xfrm xmlns:a="http://schemas.openxmlformats.org/drawingml/2006/main">
            <a:off x="1143000" y="5715000"/>
            <a:ext cx="590550" cy="590550"/>
          </a:xfrm>
          <a:prstGeom xmlns:a="http://schemas.openxmlformats.org/drawingml/2006/main" prst="roundRect">
            <a:avLst>
              <a:gd name="adj" fmla="val 12903"/>
            </a:avLst>
          </a:prstGeom>
          <a:solidFill xmlns:a="http://schemas.openxmlformats.org/drawingml/2006/main">
            <a:srgbClr val="E8F0E2"/>
          </a:solidFill>
          <a:ln xmlns:a="http://schemas.openxmlformats.org/drawingml/2006/main" w="9525">
            <a:solidFill>
              <a:srgbClr val="D8D2C8"/>
            </a:solidFill>
          </a:ln>
        </p:spPr>
      </p:sp>
      <p:sp>
        <p:nvSpPr>
          <p:cNvPr id="20" name="">
            <a:extLst xmlns:a="http://schemas.openxmlformats.org/drawingml/2006/main">
              <a:ext uri="{FF2B5EF4-FFF2-40B4-BE49-F238E27FC236}">
                <a16:creationId xmlns:a16="http://schemas.microsoft.com/office/drawing/2014/main" id="{DA0AEA13-8C60-4BDC-AB99-C3054C011223}"/>
              </a:ext>
            </a:extLst>
          </p:cNvPr>
          <p:cNvSpPr>
            <a:spLocks xmlns:a="http://schemas.openxmlformats.org/drawingml/2006/main" noGrp="1"/>
          </p:cNvSpPr>
          <p:nvPr/>
        </p:nvSpPr>
        <p:spPr>
          <a:xfrm xmlns:a="http://schemas.openxmlformats.org/drawingml/2006/main">
            <a:off x="1266825" y="5829300"/>
            <a:ext cx="342900" cy="28575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71702"/>
          </a:bodyPr>
          <a:lstStyle xmlns:a="http://schemas.openxmlformats.org/drawingml/2006/main"/>
          <a:p xmlns:a="http://schemas.openxmlformats.org/drawingml/2006/main">
            <a:pPr algn="ctr">
              <a:defRPr sz="1500" b="1">
                <a:solidFill>
                  <a:srgbClr val="1F3061"/>
                </a:solidFill>
                <a:latin typeface="Trebuchet MS"/>
                <a:ea typeface="Trebuchet MS"/>
                <a:cs typeface="Trebuchet MS"/>
              </a:defRPr>
            </a:pPr>
            <a:r>
              <a:t>04</a:t>
            </a:r>
          </a:p>
        </p:txBody>
      </p:sp>
      <p:sp>
        <p:nvSpPr>
          <p:cNvPr id="21" name="">
            <a:extLst xmlns:a="http://schemas.openxmlformats.org/drawingml/2006/main">
              <a:ext uri="{FF2B5EF4-FFF2-40B4-BE49-F238E27FC236}">
                <a16:creationId xmlns:a16="http://schemas.microsoft.com/office/drawing/2014/main" id="{1F31523E-668D-4AA0-9EC3-18A0846306C8}"/>
              </a:ext>
            </a:extLst>
          </p:cNvPr>
          <p:cNvSpPr>
            <a:spLocks xmlns:a="http://schemas.openxmlformats.org/drawingml/2006/main" noGrp="1"/>
          </p:cNvSpPr>
          <p:nvPr/>
        </p:nvSpPr>
        <p:spPr>
          <a:xfrm xmlns:a="http://schemas.openxmlformats.org/drawingml/2006/main">
            <a:off x="2038350" y="5676900"/>
            <a:ext cx="4953000" cy="6858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b="1">
                <a:solidFill>
                  <a:srgbClr val="334155"/>
                </a:solidFill>
                <a:latin typeface="Trebuchet MS"/>
                <a:ea typeface="Trebuchet MS"/>
                <a:cs typeface="Trebuchet MS"/>
              </a:defRPr>
            </a:pPr>
            <a:r>
              <a:t>Student workflow integration</a:t>
            </a:r>
          </a:p>
        </p:txBody>
      </p:sp>
      <p:sp>
        <p:nvSpPr>
          <p:cNvPr id="22" name="">
            <a:extLst xmlns:a="http://schemas.openxmlformats.org/drawingml/2006/main">
              <a:ext uri="{FF2B5EF4-FFF2-40B4-BE49-F238E27FC236}">
                <a16:creationId xmlns:a16="http://schemas.microsoft.com/office/drawing/2014/main" id="{1D9DE98A-1C72-466D-AF20-A8FB50B5D316}"/>
              </a:ext>
            </a:extLst>
          </p:cNvPr>
          <p:cNvSpPr>
            <a:spLocks xmlns:a="http://schemas.openxmlformats.org/drawingml/2006/main" noGrp="1"/>
          </p:cNvSpPr>
          <p:nvPr/>
        </p:nvSpPr>
        <p:spPr>
          <a:xfrm xmlns:a="http://schemas.openxmlformats.org/drawingml/2006/main">
            <a:off x="1143000" y="6667500"/>
            <a:ext cx="590550" cy="590550"/>
          </a:xfrm>
          <a:prstGeom xmlns:a="http://schemas.openxmlformats.org/drawingml/2006/main" prst="roundRect">
            <a:avLst>
              <a:gd name="adj" fmla="val 12903"/>
            </a:avLst>
          </a:prstGeom>
          <a:solidFill xmlns:a="http://schemas.openxmlformats.org/drawingml/2006/main">
            <a:srgbClr val="E8F0E2"/>
          </a:solidFill>
          <a:ln xmlns:a="http://schemas.openxmlformats.org/drawingml/2006/main" w="9525">
            <a:solidFill>
              <a:srgbClr val="D8D2C8"/>
            </a:solidFill>
          </a:ln>
        </p:spPr>
      </p:sp>
      <p:sp>
        <p:nvSpPr>
          <p:cNvPr id="23" name="">
            <a:extLst xmlns:a="http://schemas.openxmlformats.org/drawingml/2006/main">
              <a:ext uri="{FF2B5EF4-FFF2-40B4-BE49-F238E27FC236}">
                <a16:creationId xmlns:a16="http://schemas.microsoft.com/office/drawing/2014/main" id="{E6B938DD-D5C7-41D0-9773-B99F67D5D26E}"/>
              </a:ext>
            </a:extLst>
          </p:cNvPr>
          <p:cNvSpPr>
            <a:spLocks xmlns:a="http://schemas.openxmlformats.org/drawingml/2006/main" noGrp="1"/>
          </p:cNvSpPr>
          <p:nvPr/>
        </p:nvSpPr>
        <p:spPr>
          <a:xfrm xmlns:a="http://schemas.openxmlformats.org/drawingml/2006/main">
            <a:off x="1266825" y="6781800"/>
            <a:ext cx="342900" cy="28575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71702"/>
          </a:bodyPr>
          <a:lstStyle xmlns:a="http://schemas.openxmlformats.org/drawingml/2006/main"/>
          <a:p xmlns:a="http://schemas.openxmlformats.org/drawingml/2006/main">
            <a:pPr algn="ctr">
              <a:defRPr sz="1500" b="1">
                <a:solidFill>
                  <a:srgbClr val="1F3061"/>
                </a:solidFill>
                <a:latin typeface="Trebuchet MS"/>
                <a:ea typeface="Trebuchet MS"/>
                <a:cs typeface="Trebuchet MS"/>
              </a:defRPr>
            </a:pPr>
            <a:r>
              <a:t>05</a:t>
            </a:r>
          </a:p>
        </p:txBody>
      </p:sp>
      <p:sp>
        <p:nvSpPr>
          <p:cNvPr id="24" name="">
            <a:extLst xmlns:a="http://schemas.openxmlformats.org/drawingml/2006/main">
              <a:ext uri="{FF2B5EF4-FFF2-40B4-BE49-F238E27FC236}">
                <a16:creationId xmlns:a16="http://schemas.microsoft.com/office/drawing/2014/main" id="{6F8553A5-022E-415F-9617-47B91C36EAF0}"/>
              </a:ext>
            </a:extLst>
          </p:cNvPr>
          <p:cNvSpPr>
            <a:spLocks xmlns:a="http://schemas.openxmlformats.org/drawingml/2006/main" noGrp="1"/>
          </p:cNvSpPr>
          <p:nvPr/>
        </p:nvSpPr>
        <p:spPr>
          <a:xfrm xmlns:a="http://schemas.openxmlformats.org/drawingml/2006/main">
            <a:off x="2038350" y="6629400"/>
            <a:ext cx="4953000" cy="6858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b="1">
                <a:solidFill>
                  <a:srgbClr val="334155"/>
                </a:solidFill>
                <a:latin typeface="Trebuchet MS"/>
                <a:ea typeface="Trebuchet MS"/>
                <a:cs typeface="Trebuchet MS"/>
              </a:defRPr>
            </a:pPr>
            <a:r>
              <a:t>Output verification and documentation</a:t>
            </a:r>
          </a:p>
        </p:txBody>
      </p:sp>
      <p:sp>
        <p:nvSpPr>
          <p:cNvPr id="25" name="">
            <a:extLst xmlns:a="http://schemas.openxmlformats.org/drawingml/2006/main">
              <a:ext uri="{FF2B5EF4-FFF2-40B4-BE49-F238E27FC236}">
                <a16:creationId xmlns:a16="http://schemas.microsoft.com/office/drawing/2014/main" id="{1257916C-AD9D-4CBB-A6E1-2ADBF9209AEF}"/>
              </a:ext>
            </a:extLst>
          </p:cNvPr>
          <p:cNvSpPr>
            <a:spLocks xmlns:a="http://schemas.openxmlformats.org/drawingml/2006/main" noGrp="1"/>
          </p:cNvSpPr>
          <p:nvPr/>
        </p:nvSpPr>
        <p:spPr>
          <a:xfrm xmlns:a="http://schemas.openxmlformats.org/drawingml/2006/main">
            <a:off x="7524750" y="2419350"/>
            <a:ext cx="9963150" cy="6210300"/>
          </a:xfrm>
          <a:prstGeom xmlns:a="http://schemas.openxmlformats.org/drawingml/2006/main" prst="roundRect">
            <a:avLst>
              <a:gd name="adj" fmla="val 1227"/>
            </a:avLst>
          </a:prstGeom>
          <a:solidFill xmlns:a="http://schemas.openxmlformats.org/drawingml/2006/main">
            <a:srgbClr val="FFFFFF"/>
          </a:solidFill>
          <a:ln xmlns:a="http://schemas.openxmlformats.org/drawingml/2006/main" w="9525">
            <a:solidFill>
              <a:srgbClr val="D8D2C8"/>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d1cc72808c74796"/>
          <a:stretch xmlns:a="http://schemas.openxmlformats.org/drawingml/2006/main"/>
        </p:blipFill>
        <p:spPr>
          <a:xfrm xmlns:a="http://schemas.openxmlformats.org/drawingml/2006/main">
            <a:off x="10715625" y="2743200"/>
            <a:ext cx="3581400" cy="53721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FFD764A6-CF37-4C6F-8508-1035702AFCC6}"/>
              </a:ext>
            </a:extLst>
          </p:cNvPr>
          <p:cNvSpPr>
            <a:spLocks xmlns:a="http://schemas.openxmlformats.org/drawingml/2006/main" noGrp="1"/>
          </p:cNvSpPr>
          <p:nvPr/>
        </p:nvSpPr>
        <p:spPr>
          <a:xfrm xmlns:a="http://schemas.openxmlformats.org/drawingml/2006/main">
            <a:off x="7943850" y="2914650"/>
            <a:ext cx="1962150" cy="323850"/>
          </a:xfrm>
          <a:prstGeom xmlns:a="http://schemas.openxmlformats.org/drawingml/2006/main" prst="roundRect">
            <a:avLst>
              <a:gd name="adj" fmla="val 23529"/>
            </a:avLst>
          </a:prstGeom>
          <a:solidFill xmlns:a="http://schemas.openxmlformats.org/drawingml/2006/main">
            <a:srgbClr val="E8F0E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Student Working Flow</a:t>
            </a:r>
          </a:p>
        </p:txBody>
      </p:sp>
    </p:spTree>
    <p:extLst>
      <p:ext uri="{BB962C8B-B14F-4D97-AF65-F5344CB8AC3E}">
        <p14:creationId xmlns:p14="http://schemas.microsoft.com/office/powerpoint/2010/main" val="165435372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A02A9C-0652-47D4-99EA-832B90707785}"/>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163D53-4C94-43DD-835C-683D3862F9F3}"/>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Application View</a:t>
            </a:r>
          </a:p>
        </p:txBody>
      </p:sp>
      <p:sp>
        <p:nvSpPr>
          <p:cNvPr id="3" name="">
            <a:extLst xmlns:a="http://schemas.openxmlformats.org/drawingml/2006/main">
              <a:ext uri="{FF2B5EF4-FFF2-40B4-BE49-F238E27FC236}">
                <a16:creationId xmlns:a16="http://schemas.microsoft.com/office/drawing/2014/main" id="{9112C338-40AA-4BC1-9B5F-46C414B94C96}"/>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BBB56B-7483-4C2E-AD62-62F0CFC4067B}"/>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CF7F68F3-4C28-4D62-A9BE-E10DC694F812}"/>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13/20</a:t>
            </a:r>
          </a:p>
        </p:txBody>
      </p:sp>
      <p:sp>
        <p:nvSpPr>
          <p:cNvPr id="6" name="">
            <a:extLst xmlns:a="http://schemas.openxmlformats.org/drawingml/2006/main">
              <a:ext uri="{FF2B5EF4-FFF2-40B4-BE49-F238E27FC236}">
                <a16:creationId xmlns:a16="http://schemas.microsoft.com/office/drawing/2014/main" id="{3F27B49A-0C13-463C-B274-CF2C6279FA9C}"/>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Implementation (Screenshots)</a:t>
            </a:r>
          </a:p>
        </p:txBody>
      </p:sp>
      <p:sp>
        <p:nvSpPr>
          <p:cNvPr id="7" name="">
            <a:extLst xmlns:a="http://schemas.openxmlformats.org/drawingml/2006/main">
              <a:ext uri="{FF2B5EF4-FFF2-40B4-BE49-F238E27FC236}">
                <a16:creationId xmlns:a16="http://schemas.microsoft.com/office/drawing/2014/main" id="{6208E041-DF87-480C-9EB5-370FA69EA878}"/>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D7C0139-C8B2-4453-8764-6FA8EA778E91}"/>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implementation combines student-facing workflow screens with academic generation and practice support inside one consistent interface.</a:t>
            </a:r>
          </a:p>
        </p:txBody>
      </p:sp>
      <p:sp>
        <p:nvSpPr>
          <p:cNvPr id="9" name="">
            <a:extLst xmlns:a="http://schemas.openxmlformats.org/drawingml/2006/main">
              <a:ext uri="{FF2B5EF4-FFF2-40B4-BE49-F238E27FC236}">
                <a16:creationId xmlns:a16="http://schemas.microsoft.com/office/drawing/2014/main" id="{5EB564C3-4504-43FB-A323-E455673CB947}"/>
              </a:ext>
            </a:extLst>
          </p:cNvPr>
          <p:cNvSpPr>
            <a:spLocks xmlns:a="http://schemas.openxmlformats.org/drawingml/2006/main" noGrp="1"/>
          </p:cNvSpPr>
          <p:nvPr/>
        </p:nvSpPr>
        <p:spPr>
          <a:xfrm xmlns:a="http://schemas.openxmlformats.org/drawingml/2006/main">
            <a:off x="800100" y="2514600"/>
            <a:ext cx="390525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D2C8"/>
            </a:solidFill>
          </a:ln>
        </p:spPr>
      </p:sp>
      <p:sp>
        <p:nvSpPr>
          <p:cNvPr id="10" name="">
            <a:extLst xmlns:a="http://schemas.openxmlformats.org/drawingml/2006/main">
              <a:ext uri="{FF2B5EF4-FFF2-40B4-BE49-F238E27FC236}">
                <a16:creationId xmlns:a16="http://schemas.microsoft.com/office/drawing/2014/main" id="{D5D7395D-7926-428B-AB38-C8E6B213BFF8}"/>
              </a:ext>
            </a:extLst>
          </p:cNvPr>
          <p:cNvSpPr>
            <a:spLocks xmlns:a="http://schemas.openxmlformats.org/drawingml/2006/main" noGrp="1"/>
          </p:cNvSpPr>
          <p:nvPr/>
        </p:nvSpPr>
        <p:spPr>
          <a:xfrm xmlns:a="http://schemas.openxmlformats.org/drawingml/2006/main">
            <a:off x="990600" y="2686050"/>
            <a:ext cx="1809750" cy="304800"/>
          </a:xfrm>
          <a:prstGeom xmlns:a="http://schemas.openxmlformats.org/drawingml/2006/main" prst="roundRect">
            <a:avLst>
              <a:gd name="adj" fmla="val 25000"/>
            </a:avLst>
          </a:prstGeom>
          <a:solidFill xmlns:a="http://schemas.openxmlformats.org/drawingml/2006/main">
            <a:srgbClr val="E8EE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Login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be17c0775044a9a"/>
          <a:stretch xmlns:a="http://schemas.openxmlformats.org/drawingml/2006/main"/>
        </p:blipFill>
        <p:spPr>
          <a:xfrm xmlns:a="http://schemas.openxmlformats.org/drawingml/2006/main">
            <a:off x="1679842" y="3086100"/>
            <a:ext cx="2145767" cy="2571750"/>
          </a:xfrm>
          <a:prstGeom xmlns:a="http://schemas.openxmlformats.org/drawingml/2006/main" prst="roundRect">
            <a:avLst/>
          </a:prstGeom>
        </p:spPr>
      </p:pic>
      <p:sp>
        <p:nvSpPr>
          <p:cNvPr id="12" name="">
            <a:extLst xmlns:a="http://schemas.openxmlformats.org/drawingml/2006/main">
              <a:ext uri="{FF2B5EF4-FFF2-40B4-BE49-F238E27FC236}">
                <a16:creationId xmlns:a16="http://schemas.microsoft.com/office/drawing/2014/main" id="{B8AD7247-9CA0-45FD-BCB6-10E04F7191AF}"/>
              </a:ext>
            </a:extLst>
          </p:cNvPr>
          <p:cNvSpPr>
            <a:spLocks xmlns:a="http://schemas.openxmlformats.org/drawingml/2006/main" noGrp="1"/>
          </p:cNvSpPr>
          <p:nvPr/>
        </p:nvSpPr>
        <p:spPr>
          <a:xfrm xmlns:a="http://schemas.openxmlformats.org/drawingml/2006/main">
            <a:off x="4972050" y="2514600"/>
            <a:ext cx="6019800" cy="3333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D2C8"/>
            </a:solidFill>
          </a:ln>
        </p:spPr>
      </p:sp>
      <p:sp>
        <p:nvSpPr>
          <p:cNvPr id="13" name="">
            <a:extLst xmlns:a="http://schemas.openxmlformats.org/drawingml/2006/main">
              <a:ext uri="{FF2B5EF4-FFF2-40B4-BE49-F238E27FC236}">
                <a16:creationId xmlns:a16="http://schemas.microsoft.com/office/drawing/2014/main" id="{90E65D95-DE3D-4CD5-955A-8794669C4297}"/>
              </a:ext>
            </a:extLst>
          </p:cNvPr>
          <p:cNvSpPr>
            <a:spLocks xmlns:a="http://schemas.openxmlformats.org/drawingml/2006/main" noGrp="1"/>
          </p:cNvSpPr>
          <p:nvPr/>
        </p:nvSpPr>
        <p:spPr>
          <a:xfrm xmlns:a="http://schemas.openxmlformats.org/drawingml/2006/main">
            <a:off x="5162550" y="2686050"/>
            <a:ext cx="1809750" cy="304800"/>
          </a:xfrm>
          <a:prstGeom xmlns:a="http://schemas.openxmlformats.org/drawingml/2006/main" prst="roundRect">
            <a:avLst>
              <a:gd name="adj" fmla="val 25000"/>
            </a:avLst>
          </a:prstGeom>
          <a:solidFill xmlns:a="http://schemas.openxmlformats.org/drawingml/2006/main">
            <a:srgbClr val="E8EE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Dashboard</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9176db4dd6c4b8a"/>
          <a:stretch xmlns:a="http://schemas.openxmlformats.org/drawingml/2006/main"/>
        </p:blipFill>
        <p:spPr>
          <a:xfrm xmlns:a="http://schemas.openxmlformats.org/drawingml/2006/main">
            <a:off x="5564324" y="3086100"/>
            <a:ext cx="4835253" cy="2571750"/>
          </a:xfrm>
          <a:prstGeom xmlns:a="http://schemas.openxmlformats.org/drawingml/2006/main" prst="roundRect">
            <a:avLst/>
          </a:prstGeom>
        </p:spPr>
      </p:pic>
      <p:sp>
        <p:nvSpPr>
          <p:cNvPr id="15" name="">
            <a:extLst xmlns:a="http://schemas.openxmlformats.org/drawingml/2006/main">
              <a:ext uri="{FF2B5EF4-FFF2-40B4-BE49-F238E27FC236}">
                <a16:creationId xmlns:a16="http://schemas.microsoft.com/office/drawing/2014/main" id="{C4D34BDF-1C81-4D38-B8C8-304776029CE0}"/>
              </a:ext>
            </a:extLst>
          </p:cNvPr>
          <p:cNvSpPr>
            <a:spLocks xmlns:a="http://schemas.openxmlformats.org/drawingml/2006/main" noGrp="1"/>
          </p:cNvSpPr>
          <p:nvPr/>
        </p:nvSpPr>
        <p:spPr>
          <a:xfrm xmlns:a="http://schemas.openxmlformats.org/drawingml/2006/main">
            <a:off x="800100" y="6096000"/>
            <a:ext cx="7239000" cy="26670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8D2C8"/>
            </a:solidFill>
          </a:ln>
        </p:spPr>
      </p:sp>
      <p:sp>
        <p:nvSpPr>
          <p:cNvPr id="16" name="">
            <a:extLst xmlns:a="http://schemas.openxmlformats.org/drawingml/2006/main">
              <a:ext uri="{FF2B5EF4-FFF2-40B4-BE49-F238E27FC236}">
                <a16:creationId xmlns:a16="http://schemas.microsoft.com/office/drawing/2014/main" id="{D086F369-6523-405E-9BD2-2BDB3C31DC64}"/>
              </a:ext>
            </a:extLst>
          </p:cNvPr>
          <p:cNvSpPr>
            <a:spLocks xmlns:a="http://schemas.openxmlformats.org/drawingml/2006/main" noGrp="1"/>
          </p:cNvSpPr>
          <p:nvPr/>
        </p:nvSpPr>
        <p:spPr>
          <a:xfrm xmlns:a="http://schemas.openxmlformats.org/drawingml/2006/main">
            <a:off x="990600" y="6267450"/>
            <a:ext cx="1809750" cy="304800"/>
          </a:xfrm>
          <a:prstGeom xmlns:a="http://schemas.openxmlformats.org/drawingml/2006/main" prst="roundRect">
            <a:avLst>
              <a:gd name="adj" fmla="val 25000"/>
            </a:avLst>
          </a:prstGeom>
          <a:solidFill xmlns:a="http://schemas.openxmlformats.org/drawingml/2006/main">
            <a:srgbClr val="E8EE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Practice Center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242717ec35a4786"/>
          <a:stretch xmlns:a="http://schemas.openxmlformats.org/drawingml/2006/main"/>
        </p:blipFill>
        <p:spPr>
          <a:xfrm xmlns:a="http://schemas.openxmlformats.org/drawingml/2006/main">
            <a:off x="2611771" y="6667500"/>
            <a:ext cx="3615658" cy="1905000"/>
          </a:xfrm>
          <a:prstGeom xmlns:a="http://schemas.openxmlformats.org/drawingml/2006/main" prst="roundRect">
            <a:avLst/>
          </a:prstGeom>
        </p:spPr>
      </p:pic>
      <p:sp>
        <p:nvSpPr>
          <p:cNvPr id="18" name="">
            <a:extLst xmlns:a="http://schemas.openxmlformats.org/drawingml/2006/main">
              <a:ext uri="{FF2B5EF4-FFF2-40B4-BE49-F238E27FC236}">
                <a16:creationId xmlns:a16="http://schemas.microsoft.com/office/drawing/2014/main" id="{B3E4FCB4-B6A7-465B-ACB3-7C46C1E170B3}"/>
              </a:ext>
            </a:extLst>
          </p:cNvPr>
          <p:cNvSpPr>
            <a:spLocks xmlns:a="http://schemas.openxmlformats.org/drawingml/2006/main" noGrp="1"/>
          </p:cNvSpPr>
          <p:nvPr/>
        </p:nvSpPr>
        <p:spPr>
          <a:xfrm xmlns:a="http://schemas.openxmlformats.org/drawingml/2006/main">
            <a:off x="8305800" y="6096000"/>
            <a:ext cx="9182100" cy="266700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D8D2C8"/>
            </a:solidFill>
          </a:ln>
        </p:spPr>
      </p:sp>
      <p:sp>
        <p:nvSpPr>
          <p:cNvPr id="19" name="">
            <a:extLst xmlns:a="http://schemas.openxmlformats.org/drawingml/2006/main">
              <a:ext uri="{FF2B5EF4-FFF2-40B4-BE49-F238E27FC236}">
                <a16:creationId xmlns:a16="http://schemas.microsoft.com/office/drawing/2014/main" id="{575503FC-A334-418A-A406-C99F5C80CE3D}"/>
              </a:ext>
            </a:extLst>
          </p:cNvPr>
          <p:cNvSpPr>
            <a:spLocks xmlns:a="http://schemas.openxmlformats.org/drawingml/2006/main" noGrp="1"/>
          </p:cNvSpPr>
          <p:nvPr/>
        </p:nvSpPr>
        <p:spPr>
          <a:xfrm xmlns:a="http://schemas.openxmlformats.org/drawingml/2006/main">
            <a:off x="8496300" y="6267450"/>
            <a:ext cx="1809750" cy="304800"/>
          </a:xfrm>
          <a:prstGeom xmlns:a="http://schemas.openxmlformats.org/drawingml/2006/main" prst="roundRect">
            <a:avLst>
              <a:gd name="adj" fmla="val 25000"/>
            </a:avLst>
          </a:prstGeom>
          <a:solidFill xmlns:a="http://schemas.openxmlformats.org/drawingml/2006/main">
            <a:srgbClr val="E8EE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Model Paper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1afd6e403c54ca5"/>
          <a:stretch xmlns:a="http://schemas.openxmlformats.org/drawingml/2006/main"/>
        </p:blipFill>
        <p:spPr>
          <a:xfrm xmlns:a="http://schemas.openxmlformats.org/drawingml/2006/main">
            <a:off x="11099680" y="6667500"/>
            <a:ext cx="3594340" cy="1905000"/>
          </a:xfrm>
          <a:prstGeom xmlns:a="http://schemas.openxmlformats.org/drawingml/2006/main" prst="roundRect">
            <a:avLst/>
          </a:prstGeom>
        </p:spPr>
      </p:pic>
    </p:spTree>
    <p:extLst>
      <p:ext uri="{BB962C8B-B14F-4D97-AF65-F5344CB8AC3E}">
        <p14:creationId xmlns:p14="http://schemas.microsoft.com/office/powerpoint/2010/main" val="153286789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A7922A-35B6-4AB1-979A-B207D2FAB72C}"/>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382787-B6E7-4B07-B7DC-7C1260A43A13}"/>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Outcome</a:t>
            </a:r>
          </a:p>
        </p:txBody>
      </p:sp>
      <p:sp>
        <p:nvSpPr>
          <p:cNvPr id="3" name="">
            <a:extLst xmlns:a="http://schemas.openxmlformats.org/drawingml/2006/main">
              <a:ext uri="{FF2B5EF4-FFF2-40B4-BE49-F238E27FC236}">
                <a16:creationId xmlns:a16="http://schemas.microsoft.com/office/drawing/2014/main" id="{C3C9DF78-18DF-4259-B6B3-18380DAC76DE}"/>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0BF752-5951-4DFA-AE10-372949B983D1}"/>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B9DE9A3D-C155-4289-9431-84ADBF07A0F3}"/>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14/20</a:t>
            </a:r>
          </a:p>
        </p:txBody>
      </p:sp>
      <p:sp>
        <p:nvSpPr>
          <p:cNvPr id="6" name="">
            <a:extLst xmlns:a="http://schemas.openxmlformats.org/drawingml/2006/main">
              <a:ext uri="{FF2B5EF4-FFF2-40B4-BE49-F238E27FC236}">
                <a16:creationId xmlns:a16="http://schemas.microsoft.com/office/drawing/2014/main" id="{1E649DAF-77BB-4227-B09D-A9AE9D247EE3}"/>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Results / Output</a:t>
            </a:r>
          </a:p>
        </p:txBody>
      </p:sp>
      <p:sp>
        <p:nvSpPr>
          <p:cNvPr id="7" name="">
            <a:extLst xmlns:a="http://schemas.openxmlformats.org/drawingml/2006/main">
              <a:ext uri="{FF2B5EF4-FFF2-40B4-BE49-F238E27FC236}">
                <a16:creationId xmlns:a16="http://schemas.microsoft.com/office/drawing/2014/main" id="{60DB5774-1664-4F7A-8AC7-74188F91FF7F}"/>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C1A9CB-54B7-4177-B41D-DA88456E2A37}"/>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final build behaves as an integrated academic platform rather than a disconnected collection of pages, files, and reminders.</a:t>
            </a:r>
          </a:p>
        </p:txBody>
      </p:sp>
      <p:sp>
        <p:nvSpPr>
          <p:cNvPr id="9" name="">
            <a:extLst xmlns:a="http://schemas.openxmlformats.org/drawingml/2006/main">
              <a:ext uri="{FF2B5EF4-FFF2-40B4-BE49-F238E27FC236}">
                <a16:creationId xmlns:a16="http://schemas.microsoft.com/office/drawing/2014/main" id="{4EDA91A4-CE0C-43B3-A397-FB0B41AD8156}"/>
              </a:ext>
            </a:extLst>
          </p:cNvPr>
          <p:cNvSpPr>
            <a:spLocks xmlns:a="http://schemas.openxmlformats.org/drawingml/2006/main" noGrp="1"/>
          </p:cNvSpPr>
          <p:nvPr/>
        </p:nvSpPr>
        <p:spPr>
          <a:xfrm xmlns:a="http://schemas.openxmlformats.org/drawingml/2006/main">
            <a:off x="800100" y="2533650"/>
            <a:ext cx="9715500" cy="5943600"/>
          </a:xfrm>
          <a:prstGeom xmlns:a="http://schemas.openxmlformats.org/drawingml/2006/main" prst="roundRect">
            <a:avLst>
              <a:gd name="adj" fmla="val 1282"/>
            </a:avLst>
          </a:prstGeom>
          <a:solidFill xmlns:a="http://schemas.openxmlformats.org/drawingml/2006/main">
            <a:srgbClr val="FFFFFF"/>
          </a:solidFill>
          <a:ln xmlns:a="http://schemas.openxmlformats.org/drawingml/2006/main" w="9525">
            <a:solidFill>
              <a:srgbClr val="D8D2C8"/>
            </a:solidFill>
          </a:ln>
        </p:spPr>
      </p:sp>
      <p:sp>
        <p:nvSpPr>
          <p:cNvPr id="10" name="">
            <a:extLst xmlns:a="http://schemas.openxmlformats.org/drawingml/2006/main">
              <a:ext uri="{FF2B5EF4-FFF2-40B4-BE49-F238E27FC236}">
                <a16:creationId xmlns:a16="http://schemas.microsoft.com/office/drawing/2014/main" id="{E6BF46C6-090F-4249-AFDD-7DD27EA4ED2A}"/>
              </a:ext>
            </a:extLst>
          </p:cNvPr>
          <p:cNvSpPr>
            <a:spLocks xmlns:a="http://schemas.openxmlformats.org/drawingml/2006/main" noGrp="1"/>
          </p:cNvSpPr>
          <p:nvPr/>
        </p:nvSpPr>
        <p:spPr>
          <a:xfrm xmlns:a="http://schemas.openxmlformats.org/drawingml/2006/main">
            <a:off x="1066800" y="2724150"/>
            <a:ext cx="2171700" cy="304800"/>
          </a:xfrm>
          <a:prstGeom xmlns:a="http://schemas.openxmlformats.org/drawingml/2006/main" prst="roundRect">
            <a:avLst>
              <a:gd name="adj" fmla="val 25000"/>
            </a:avLst>
          </a:prstGeom>
          <a:solidFill xmlns:a="http://schemas.openxmlformats.org/drawingml/2006/main">
            <a:srgbClr val="E8F0E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Generated Model Paper</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3a50c422ff24099"/>
          <a:stretch xmlns:a="http://schemas.openxmlformats.org/drawingml/2006/main"/>
        </p:blipFill>
        <p:spPr>
          <a:xfrm xmlns:a="http://schemas.openxmlformats.org/drawingml/2006/main">
            <a:off x="1066800" y="3243643"/>
            <a:ext cx="9182100" cy="4866513"/>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F34750D-F710-4549-99CE-B389EA2C6DC8}"/>
              </a:ext>
            </a:extLst>
          </p:cNvPr>
          <p:cNvSpPr>
            <a:spLocks xmlns:a="http://schemas.openxmlformats.org/drawingml/2006/main" noGrp="1"/>
          </p:cNvSpPr>
          <p:nvPr/>
        </p:nvSpPr>
        <p:spPr>
          <a:xfrm xmlns:a="http://schemas.openxmlformats.org/drawingml/2006/main">
            <a:off x="10858500" y="2533650"/>
            <a:ext cx="6629400" cy="2800350"/>
          </a:xfrm>
          <a:prstGeom xmlns:a="http://schemas.openxmlformats.org/drawingml/2006/main" prst="roundRect">
            <a:avLst>
              <a:gd name="adj" fmla="val 2721"/>
            </a:avLst>
          </a:prstGeom>
          <a:solidFill xmlns:a="http://schemas.openxmlformats.org/drawingml/2006/main">
            <a:srgbClr val="FFFFFF"/>
          </a:solidFill>
          <a:ln xmlns:a="http://schemas.openxmlformats.org/drawingml/2006/main" w="9525">
            <a:solidFill>
              <a:srgbClr val="D8D2C8"/>
            </a:solidFill>
          </a:ln>
        </p:spPr>
      </p:sp>
      <p:sp>
        <p:nvSpPr>
          <p:cNvPr id="13" name="">
            <a:extLst xmlns:a="http://schemas.openxmlformats.org/drawingml/2006/main">
              <a:ext uri="{FF2B5EF4-FFF2-40B4-BE49-F238E27FC236}">
                <a16:creationId xmlns:a16="http://schemas.microsoft.com/office/drawing/2014/main" id="{3A1DEA11-D82C-48FA-B351-0E8E052BD9AB}"/>
              </a:ext>
            </a:extLst>
          </p:cNvPr>
          <p:cNvSpPr>
            <a:spLocks xmlns:a="http://schemas.openxmlformats.org/drawingml/2006/main" noGrp="1"/>
          </p:cNvSpPr>
          <p:nvPr/>
        </p:nvSpPr>
        <p:spPr>
          <a:xfrm xmlns:a="http://schemas.openxmlformats.org/drawingml/2006/main">
            <a:off x="11125200" y="2724150"/>
            <a:ext cx="2095500" cy="304800"/>
          </a:xfrm>
          <a:prstGeom xmlns:a="http://schemas.openxmlformats.org/drawingml/2006/main" prst="roundRect">
            <a:avLst>
              <a:gd name="adj" fmla="val 25000"/>
            </a:avLst>
          </a:prstGeom>
          <a:solidFill xmlns:a="http://schemas.openxmlformats.org/drawingml/2006/main">
            <a:srgbClr val="E8EEF8"/>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Admin Resource Console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65011a6ca894e95"/>
          <a:stretch xmlns:a="http://schemas.openxmlformats.org/drawingml/2006/main"/>
        </p:blipFill>
        <p:spPr>
          <a:xfrm xmlns:a="http://schemas.openxmlformats.org/drawingml/2006/main">
            <a:off x="12389608" y="3143250"/>
            <a:ext cx="3567184" cy="1924050"/>
          </a:xfrm>
          <a:prstGeom xmlns:a="http://schemas.openxmlformats.org/drawingml/2006/main" prst="roundRect">
            <a:avLst/>
          </a:prstGeom>
        </p:spPr>
      </p:pic>
      <p:sp>
        <p:nvSpPr>
          <p:cNvPr id="15" name="">
            <a:extLst xmlns:a="http://schemas.openxmlformats.org/drawingml/2006/main">
              <a:ext uri="{FF2B5EF4-FFF2-40B4-BE49-F238E27FC236}">
                <a16:creationId xmlns:a16="http://schemas.microsoft.com/office/drawing/2014/main" id="{0BB8268A-8C23-4688-8EDE-4D388E53337B}"/>
              </a:ext>
            </a:extLst>
          </p:cNvPr>
          <p:cNvSpPr>
            <a:spLocks xmlns:a="http://schemas.openxmlformats.org/drawingml/2006/main" noGrp="1"/>
          </p:cNvSpPr>
          <p:nvPr/>
        </p:nvSpPr>
        <p:spPr>
          <a:xfrm xmlns:a="http://schemas.openxmlformats.org/drawingml/2006/main">
            <a:off x="10858500" y="5581650"/>
            <a:ext cx="6629400" cy="2895600"/>
          </a:xfrm>
          <a:prstGeom xmlns:a="http://schemas.openxmlformats.org/drawingml/2006/main" prst="roundRect">
            <a:avLst>
              <a:gd name="adj" fmla="val 2632"/>
            </a:avLst>
          </a:prstGeom>
          <a:solidFill xmlns:a="http://schemas.openxmlformats.org/drawingml/2006/main">
            <a:srgbClr val="E8EEF8"/>
          </a:solidFill>
          <a:ln xmlns:a="http://schemas.openxmlformats.org/drawingml/2006/main" w="9525">
            <a:solidFill>
              <a:srgbClr val="D8D2C8"/>
            </a:solidFill>
          </a:ln>
        </p:spPr>
      </p:sp>
      <p:sp>
        <p:nvSpPr>
          <p:cNvPr id="16" name="">
            <a:extLst xmlns:a="http://schemas.openxmlformats.org/drawingml/2006/main">
              <a:ext uri="{FF2B5EF4-FFF2-40B4-BE49-F238E27FC236}">
                <a16:creationId xmlns:a16="http://schemas.microsoft.com/office/drawing/2014/main" id="{8DD863AA-39C0-4632-A966-598A7C16D651}"/>
              </a:ext>
            </a:extLst>
          </p:cNvPr>
          <p:cNvSpPr>
            <a:spLocks xmlns:a="http://schemas.openxmlformats.org/drawingml/2006/main" noGrp="1"/>
          </p:cNvSpPr>
          <p:nvPr/>
        </p:nvSpPr>
        <p:spPr>
          <a:xfrm xmlns:a="http://schemas.openxmlformats.org/drawingml/2006/main">
            <a:off x="11163300" y="5924550"/>
            <a:ext cx="5981700" cy="224790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575">
                <a:solidFill>
                  <a:srgbClr val="1F3061"/>
                </a:solidFill>
                <a:latin typeface="Trebuchet MS"/>
                <a:ea typeface="Trebuchet MS"/>
                <a:cs typeface="Trebuchet MS"/>
              </a:defRPr>
            </a:pPr>
            <a:r>
              <a:t>- One authenticated workspace for dashboard, study material, and practice</a:t>
            </a:r>
          </a:p>
          <a:p xmlns:a="http://schemas.openxmlformats.org/drawingml/2006/main">
            <a:pPr>
              <a:defRPr sz="1575">
                <a:solidFill>
                  <a:srgbClr val="1F3061"/>
                </a:solidFill>
                <a:latin typeface="Trebuchet MS"/>
                <a:ea typeface="Trebuchet MS"/>
                <a:cs typeface="Trebuchet MS"/>
              </a:defRPr>
            </a:pPr>
            <a:r>
              <a:t>- Semester-wise organization of subjects, units, and PYQ resources</a:t>
            </a:r>
          </a:p>
          <a:p xmlns:a="http://schemas.openxmlformats.org/drawingml/2006/main">
            <a:pPr>
              <a:defRPr sz="1575">
                <a:solidFill>
                  <a:srgbClr val="1F3061"/>
                </a:solidFill>
                <a:latin typeface="Trebuchet MS"/>
                <a:ea typeface="Trebuchet MS"/>
                <a:cs typeface="Trebuchet MS"/>
              </a:defRPr>
            </a:pPr>
            <a:r>
              <a:t>- AI-backed tutoring, quizzes, flashcards, and paper generation support</a:t>
            </a:r>
          </a:p>
          <a:p xmlns:a="http://schemas.openxmlformats.org/drawingml/2006/main">
            <a:pPr>
              <a:defRPr sz="1575">
                <a:solidFill>
                  <a:srgbClr val="1F3061"/>
                </a:solidFill>
                <a:latin typeface="Trebuchet MS"/>
                <a:ea typeface="Trebuchet MS"/>
                <a:cs typeface="Trebuchet MS"/>
              </a:defRPr>
            </a:pPr>
            <a:r>
              <a:t>- Controlled admin workflow for resource upload, review, and visibility</a:t>
            </a:r>
          </a:p>
        </p:txBody>
      </p:sp>
    </p:spTree>
    <p:extLst>
      <p:ext uri="{BB962C8B-B14F-4D97-AF65-F5344CB8AC3E}">
        <p14:creationId xmlns:p14="http://schemas.microsoft.com/office/powerpoint/2010/main" val="1201915388"/>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6E4BE2-6D64-43EB-8D25-63174A50AC9E}"/>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9698CE-631E-49F2-A039-2AEB653105E8}"/>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Value</a:t>
            </a:r>
          </a:p>
        </p:txBody>
      </p:sp>
      <p:sp>
        <p:nvSpPr>
          <p:cNvPr id="3" name="">
            <a:extLst xmlns:a="http://schemas.openxmlformats.org/drawingml/2006/main">
              <a:ext uri="{FF2B5EF4-FFF2-40B4-BE49-F238E27FC236}">
                <a16:creationId xmlns:a16="http://schemas.microsoft.com/office/drawing/2014/main" id="{C39409A9-05E6-4A08-89F7-31E7398E3A78}"/>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8AB6D1B-EB1E-415D-8FBB-884EAD18FC4F}"/>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DF67038A-3363-48AC-9B43-4C95F1455134}"/>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15/20</a:t>
            </a:r>
          </a:p>
        </p:txBody>
      </p:sp>
      <p:sp>
        <p:nvSpPr>
          <p:cNvPr id="6" name="">
            <a:extLst xmlns:a="http://schemas.openxmlformats.org/drawingml/2006/main">
              <a:ext uri="{FF2B5EF4-FFF2-40B4-BE49-F238E27FC236}">
                <a16:creationId xmlns:a16="http://schemas.microsoft.com/office/drawing/2014/main" id="{939EF23B-E502-48E1-975B-5743CB9054E7}"/>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Advantages Of Proposed System</a:t>
            </a:r>
          </a:p>
        </p:txBody>
      </p:sp>
      <p:sp>
        <p:nvSpPr>
          <p:cNvPr id="7" name="">
            <a:extLst xmlns:a="http://schemas.openxmlformats.org/drawingml/2006/main">
              <a:ext uri="{FF2B5EF4-FFF2-40B4-BE49-F238E27FC236}">
                <a16:creationId xmlns:a16="http://schemas.microsoft.com/office/drawing/2014/main" id="{07A84F82-09EE-4927-AD0D-BC7982F71D7E}"/>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E8A456C-7D00-4897-916F-EA9598B92485}"/>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GradPath improves academic coordination by turning scattered study activity into one guided digital workflow.</a:t>
            </a:r>
          </a:p>
        </p:txBody>
      </p:sp>
      <p:sp>
        <p:nvSpPr>
          <p:cNvPr id="9" name="">
            <a:extLst xmlns:a="http://schemas.openxmlformats.org/drawingml/2006/main">
              <a:ext uri="{FF2B5EF4-FFF2-40B4-BE49-F238E27FC236}">
                <a16:creationId xmlns:a16="http://schemas.microsoft.com/office/drawing/2014/main" id="{5729F0CC-B21E-4AF3-94D3-B50686C77CAA}"/>
              </a:ext>
            </a:extLst>
          </p:cNvPr>
          <p:cNvSpPr>
            <a:spLocks xmlns:a="http://schemas.openxmlformats.org/drawingml/2006/main" noGrp="1"/>
          </p:cNvSpPr>
          <p:nvPr/>
        </p:nvSpPr>
        <p:spPr>
          <a:xfrm xmlns:a="http://schemas.openxmlformats.org/drawingml/2006/main">
            <a:off x="800100" y="2724150"/>
            <a:ext cx="7239000" cy="17145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175">
                <a:solidFill>
                  <a:srgbClr val="101828"/>
                </a:solidFill>
                <a:latin typeface="Trebuchet MS"/>
                <a:ea typeface="Trebuchet MS"/>
                <a:cs typeface="Trebuchet MS"/>
              </a:defRPr>
            </a:pPr>
            <a:r>
              <a:t>The key advantage is continuity: students can move from overview, to study material, to practice, to revision planning without changing tools or losing context.</a:t>
            </a:r>
          </a:p>
        </p:txBody>
      </p:sp>
      <p:sp>
        <p:nvSpPr>
          <p:cNvPr id="10" name="">
            <a:extLst xmlns:a="http://schemas.openxmlformats.org/drawingml/2006/main">
              <a:ext uri="{FF2B5EF4-FFF2-40B4-BE49-F238E27FC236}">
                <a16:creationId xmlns:a16="http://schemas.microsoft.com/office/drawing/2014/main" id="{A79D82DD-FD57-4E9B-9F85-81E73E2C3DD2}"/>
              </a:ext>
            </a:extLst>
          </p:cNvPr>
          <p:cNvSpPr>
            <a:spLocks xmlns:a="http://schemas.openxmlformats.org/drawingml/2006/main" noGrp="1"/>
          </p:cNvSpPr>
          <p:nvPr/>
        </p:nvSpPr>
        <p:spPr>
          <a:xfrm xmlns:a="http://schemas.openxmlformats.org/drawingml/2006/main">
            <a:off x="800100" y="4762500"/>
            <a:ext cx="15735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D2C8"/>
            </a:solidFill>
          </a:ln>
        </p:spPr>
      </p:sp>
      <p:sp>
        <p:nvSpPr>
          <p:cNvPr id="11" name="">
            <a:extLst xmlns:a="http://schemas.openxmlformats.org/drawingml/2006/main">
              <a:ext uri="{FF2B5EF4-FFF2-40B4-BE49-F238E27FC236}">
                <a16:creationId xmlns:a16="http://schemas.microsoft.com/office/drawing/2014/main" id="{71FD46E3-D340-49EF-8973-E8400247CF4F}"/>
              </a:ext>
            </a:extLst>
          </p:cNvPr>
          <p:cNvSpPr>
            <a:spLocks xmlns:a="http://schemas.openxmlformats.org/drawingml/2006/main" noGrp="1"/>
          </p:cNvSpPr>
          <p:nvPr/>
        </p:nvSpPr>
        <p:spPr>
          <a:xfrm xmlns:a="http://schemas.openxmlformats.org/drawingml/2006/main">
            <a:off x="1066800" y="4876800"/>
            <a:ext cx="952500"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anchor="t">
            <a:normAutofit fontScale="84848"/>
          </a:bodyPr>
          <a:lstStyle xmlns:a="http://schemas.openxmlformats.org/drawingml/2006/main"/>
          <a:p xmlns:a="http://schemas.openxmlformats.org/drawingml/2006/main">
            <a:pPr>
              <a:defRPr sz="1650" b="1">
                <a:solidFill>
                  <a:srgbClr val="8A2B34"/>
                </a:solidFill>
                <a:latin typeface="Trebuchet MS"/>
                <a:ea typeface="Trebuchet MS"/>
                <a:cs typeface="Trebuchet MS"/>
              </a:defRPr>
            </a:pPr>
            <a:r>
              <a:t>1.</a:t>
            </a:r>
          </a:p>
        </p:txBody>
      </p:sp>
      <p:sp>
        <p:nvSpPr>
          <p:cNvPr id="12" name="">
            <a:extLst xmlns:a="http://schemas.openxmlformats.org/drawingml/2006/main">
              <a:ext uri="{FF2B5EF4-FFF2-40B4-BE49-F238E27FC236}">
                <a16:creationId xmlns:a16="http://schemas.microsoft.com/office/drawing/2014/main" id="{1C83B346-BB66-4F75-B0F5-6FD424FA39D1}"/>
              </a:ext>
            </a:extLst>
          </p:cNvPr>
          <p:cNvSpPr>
            <a:spLocks xmlns:a="http://schemas.openxmlformats.org/drawingml/2006/main" noGrp="1"/>
          </p:cNvSpPr>
          <p:nvPr/>
        </p:nvSpPr>
        <p:spPr>
          <a:xfrm xmlns:a="http://schemas.openxmlformats.org/drawingml/2006/main">
            <a:off x="1562100" y="4857750"/>
            <a:ext cx="14649450" cy="381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Centralized access to dashboard, resources, assignments, and results</a:t>
            </a:r>
          </a:p>
        </p:txBody>
      </p:sp>
      <p:sp>
        <p:nvSpPr>
          <p:cNvPr id="13" name="">
            <a:extLst xmlns:a="http://schemas.openxmlformats.org/drawingml/2006/main">
              <a:ext uri="{FF2B5EF4-FFF2-40B4-BE49-F238E27FC236}">
                <a16:creationId xmlns:a16="http://schemas.microsoft.com/office/drawing/2014/main" id="{83A29684-E812-4090-9937-14A5EDACF9D5}"/>
              </a:ext>
            </a:extLst>
          </p:cNvPr>
          <p:cNvSpPr>
            <a:spLocks xmlns:a="http://schemas.openxmlformats.org/drawingml/2006/main" noGrp="1"/>
          </p:cNvSpPr>
          <p:nvPr/>
        </p:nvSpPr>
        <p:spPr>
          <a:xfrm xmlns:a="http://schemas.openxmlformats.org/drawingml/2006/main">
            <a:off x="800100" y="5600700"/>
            <a:ext cx="15735300" cy="628650"/>
          </a:xfrm>
          <a:prstGeom xmlns:a="http://schemas.openxmlformats.org/drawingml/2006/main" prst="roundRect">
            <a:avLst>
              <a:gd name="adj" fmla="val 12121"/>
            </a:avLst>
          </a:prstGeom>
          <a:solidFill xmlns:a="http://schemas.openxmlformats.org/drawingml/2006/main">
            <a:srgbClr val="E8F0E2"/>
          </a:solidFill>
          <a:ln xmlns:a="http://schemas.openxmlformats.org/drawingml/2006/main" w="9525">
            <a:solidFill>
              <a:srgbClr val="D8D2C8"/>
            </a:solidFill>
          </a:ln>
        </p:spPr>
      </p:sp>
      <p:sp>
        <p:nvSpPr>
          <p:cNvPr id="14" name="">
            <a:extLst xmlns:a="http://schemas.openxmlformats.org/drawingml/2006/main">
              <a:ext uri="{FF2B5EF4-FFF2-40B4-BE49-F238E27FC236}">
                <a16:creationId xmlns:a16="http://schemas.microsoft.com/office/drawing/2014/main" id="{551FD5B7-C18F-4580-B146-3E20C2684D03}"/>
              </a:ext>
            </a:extLst>
          </p:cNvPr>
          <p:cNvSpPr>
            <a:spLocks xmlns:a="http://schemas.openxmlformats.org/drawingml/2006/main" noGrp="1"/>
          </p:cNvSpPr>
          <p:nvPr/>
        </p:nvSpPr>
        <p:spPr>
          <a:xfrm xmlns:a="http://schemas.openxmlformats.org/drawingml/2006/main">
            <a:off x="1066800" y="5715000"/>
            <a:ext cx="952500" cy="30480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84848"/>
          </a:bodyPr>
          <a:lstStyle xmlns:a="http://schemas.openxmlformats.org/drawingml/2006/main"/>
          <a:p xmlns:a="http://schemas.openxmlformats.org/drawingml/2006/main">
            <a:pPr>
              <a:defRPr sz="1650" b="1">
                <a:solidFill>
                  <a:srgbClr val="8A2B34"/>
                </a:solidFill>
                <a:latin typeface="Trebuchet MS"/>
                <a:ea typeface="Trebuchet MS"/>
                <a:cs typeface="Trebuchet MS"/>
              </a:defRPr>
            </a:pPr>
            <a:r>
              <a:t>2.</a:t>
            </a:r>
          </a:p>
        </p:txBody>
      </p:sp>
      <p:sp>
        <p:nvSpPr>
          <p:cNvPr id="15" name="">
            <a:extLst xmlns:a="http://schemas.openxmlformats.org/drawingml/2006/main">
              <a:ext uri="{FF2B5EF4-FFF2-40B4-BE49-F238E27FC236}">
                <a16:creationId xmlns:a16="http://schemas.microsoft.com/office/drawing/2014/main" id="{5EFCC93E-9278-49C1-A4D3-0087FB660262}"/>
              </a:ext>
            </a:extLst>
          </p:cNvPr>
          <p:cNvSpPr>
            <a:spLocks xmlns:a="http://schemas.openxmlformats.org/drawingml/2006/main" noGrp="1"/>
          </p:cNvSpPr>
          <p:nvPr/>
        </p:nvSpPr>
        <p:spPr>
          <a:xfrm xmlns:a="http://schemas.openxmlformats.org/drawingml/2006/main">
            <a:off x="1562100" y="5695950"/>
            <a:ext cx="14649450" cy="38100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Better visibility of progress, pending tasks, and weak academic areas</a:t>
            </a:r>
          </a:p>
        </p:txBody>
      </p:sp>
      <p:sp>
        <p:nvSpPr>
          <p:cNvPr id="16" name="">
            <a:extLst xmlns:a="http://schemas.openxmlformats.org/drawingml/2006/main">
              <a:ext uri="{FF2B5EF4-FFF2-40B4-BE49-F238E27FC236}">
                <a16:creationId xmlns:a16="http://schemas.microsoft.com/office/drawing/2014/main" id="{E764C16B-B228-4DA2-BC79-D3BD69EC663D}"/>
              </a:ext>
            </a:extLst>
          </p:cNvPr>
          <p:cNvSpPr>
            <a:spLocks xmlns:a="http://schemas.openxmlformats.org/drawingml/2006/main" noGrp="1"/>
          </p:cNvSpPr>
          <p:nvPr/>
        </p:nvSpPr>
        <p:spPr>
          <a:xfrm xmlns:a="http://schemas.openxmlformats.org/drawingml/2006/main">
            <a:off x="800100" y="6438900"/>
            <a:ext cx="15735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D2C8"/>
            </a:solidFill>
          </a:ln>
        </p:spPr>
      </p:sp>
      <p:sp>
        <p:nvSpPr>
          <p:cNvPr id="17" name="">
            <a:extLst xmlns:a="http://schemas.openxmlformats.org/drawingml/2006/main">
              <a:ext uri="{FF2B5EF4-FFF2-40B4-BE49-F238E27FC236}">
                <a16:creationId xmlns:a16="http://schemas.microsoft.com/office/drawing/2014/main" id="{849256E2-637E-4C37-BAB0-1002EB694D8F}"/>
              </a:ext>
            </a:extLst>
          </p:cNvPr>
          <p:cNvSpPr>
            <a:spLocks xmlns:a="http://schemas.openxmlformats.org/drawingml/2006/main" noGrp="1"/>
          </p:cNvSpPr>
          <p:nvPr/>
        </p:nvSpPr>
        <p:spPr>
          <a:xfrm xmlns:a="http://schemas.openxmlformats.org/drawingml/2006/main">
            <a:off x="1066800" y="6553200"/>
            <a:ext cx="952500"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anchor="t">
            <a:normAutofit fontScale="84848"/>
          </a:bodyPr>
          <a:lstStyle xmlns:a="http://schemas.openxmlformats.org/drawingml/2006/main"/>
          <a:p xmlns:a="http://schemas.openxmlformats.org/drawingml/2006/main">
            <a:pPr>
              <a:defRPr sz="1650" b="1">
                <a:solidFill>
                  <a:srgbClr val="8A2B34"/>
                </a:solidFill>
                <a:latin typeface="Trebuchet MS"/>
                <a:ea typeface="Trebuchet MS"/>
                <a:cs typeface="Trebuchet MS"/>
              </a:defRPr>
            </a:pPr>
            <a:r>
              <a:t>3.</a:t>
            </a:r>
          </a:p>
        </p:txBody>
      </p:sp>
      <p:sp>
        <p:nvSpPr>
          <p:cNvPr id="18" name="">
            <a:extLst xmlns:a="http://schemas.openxmlformats.org/drawingml/2006/main">
              <a:ext uri="{FF2B5EF4-FFF2-40B4-BE49-F238E27FC236}">
                <a16:creationId xmlns:a16="http://schemas.microsoft.com/office/drawing/2014/main" id="{665E694E-8EDB-4460-9122-2B9594C192FD}"/>
              </a:ext>
            </a:extLst>
          </p:cNvPr>
          <p:cNvSpPr>
            <a:spLocks xmlns:a="http://schemas.openxmlformats.org/drawingml/2006/main" noGrp="1"/>
          </p:cNvSpPr>
          <p:nvPr/>
        </p:nvSpPr>
        <p:spPr>
          <a:xfrm xmlns:a="http://schemas.openxmlformats.org/drawingml/2006/main">
            <a:off x="1562100" y="6534150"/>
            <a:ext cx="14649450" cy="381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Faster revision using quizzes, flashcards, PYQs, and model papers</a:t>
            </a:r>
          </a:p>
        </p:txBody>
      </p:sp>
      <p:sp>
        <p:nvSpPr>
          <p:cNvPr id="19" name="">
            <a:extLst xmlns:a="http://schemas.openxmlformats.org/drawingml/2006/main">
              <a:ext uri="{FF2B5EF4-FFF2-40B4-BE49-F238E27FC236}">
                <a16:creationId xmlns:a16="http://schemas.microsoft.com/office/drawing/2014/main" id="{0443DC6B-298F-4198-B95B-C11DAFB5845D}"/>
              </a:ext>
            </a:extLst>
          </p:cNvPr>
          <p:cNvSpPr>
            <a:spLocks xmlns:a="http://schemas.openxmlformats.org/drawingml/2006/main" noGrp="1"/>
          </p:cNvSpPr>
          <p:nvPr/>
        </p:nvSpPr>
        <p:spPr>
          <a:xfrm xmlns:a="http://schemas.openxmlformats.org/drawingml/2006/main">
            <a:off x="800100" y="7277100"/>
            <a:ext cx="15735300" cy="628650"/>
          </a:xfrm>
          <a:prstGeom xmlns:a="http://schemas.openxmlformats.org/drawingml/2006/main" prst="roundRect">
            <a:avLst>
              <a:gd name="adj" fmla="val 12121"/>
            </a:avLst>
          </a:prstGeom>
          <a:solidFill xmlns:a="http://schemas.openxmlformats.org/drawingml/2006/main">
            <a:srgbClr val="E8F0E2"/>
          </a:solidFill>
          <a:ln xmlns:a="http://schemas.openxmlformats.org/drawingml/2006/main" w="9525">
            <a:solidFill>
              <a:srgbClr val="D8D2C8"/>
            </a:solidFill>
          </a:ln>
        </p:spPr>
      </p:sp>
      <p:sp>
        <p:nvSpPr>
          <p:cNvPr id="20" name="">
            <a:extLst xmlns:a="http://schemas.openxmlformats.org/drawingml/2006/main">
              <a:ext uri="{FF2B5EF4-FFF2-40B4-BE49-F238E27FC236}">
                <a16:creationId xmlns:a16="http://schemas.microsoft.com/office/drawing/2014/main" id="{0E9641D7-E6C2-45FC-A719-C1B89DC80426}"/>
              </a:ext>
            </a:extLst>
          </p:cNvPr>
          <p:cNvSpPr>
            <a:spLocks xmlns:a="http://schemas.openxmlformats.org/drawingml/2006/main" noGrp="1"/>
          </p:cNvSpPr>
          <p:nvPr/>
        </p:nvSpPr>
        <p:spPr>
          <a:xfrm xmlns:a="http://schemas.openxmlformats.org/drawingml/2006/main">
            <a:off x="1066800" y="7391400"/>
            <a:ext cx="952500" cy="30480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84848"/>
          </a:bodyPr>
          <a:lstStyle xmlns:a="http://schemas.openxmlformats.org/drawingml/2006/main"/>
          <a:p xmlns:a="http://schemas.openxmlformats.org/drawingml/2006/main">
            <a:pPr>
              <a:defRPr sz="1650" b="1">
                <a:solidFill>
                  <a:srgbClr val="8A2B34"/>
                </a:solidFill>
                <a:latin typeface="Trebuchet MS"/>
                <a:ea typeface="Trebuchet MS"/>
                <a:cs typeface="Trebuchet MS"/>
              </a:defRPr>
            </a:pPr>
            <a:r>
              <a:t>4.</a:t>
            </a:r>
          </a:p>
        </p:txBody>
      </p:sp>
      <p:sp>
        <p:nvSpPr>
          <p:cNvPr id="21" name="">
            <a:extLst xmlns:a="http://schemas.openxmlformats.org/drawingml/2006/main">
              <a:ext uri="{FF2B5EF4-FFF2-40B4-BE49-F238E27FC236}">
                <a16:creationId xmlns:a16="http://schemas.microsoft.com/office/drawing/2014/main" id="{5CC48570-F84F-4AEC-9BC9-65300DE08476}"/>
              </a:ext>
            </a:extLst>
          </p:cNvPr>
          <p:cNvSpPr>
            <a:spLocks xmlns:a="http://schemas.openxmlformats.org/drawingml/2006/main" noGrp="1"/>
          </p:cNvSpPr>
          <p:nvPr/>
        </p:nvSpPr>
        <p:spPr>
          <a:xfrm xmlns:a="http://schemas.openxmlformats.org/drawingml/2006/main">
            <a:off x="1562100" y="7372350"/>
            <a:ext cx="14649450" cy="38100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Secure role-based workflow for both students and admins</a:t>
            </a:r>
          </a:p>
        </p:txBody>
      </p:sp>
      <p:sp>
        <p:nvSpPr>
          <p:cNvPr id="22" name="">
            <a:extLst xmlns:a="http://schemas.openxmlformats.org/drawingml/2006/main">
              <a:ext uri="{FF2B5EF4-FFF2-40B4-BE49-F238E27FC236}">
                <a16:creationId xmlns:a16="http://schemas.microsoft.com/office/drawing/2014/main" id="{ACF1F82E-C3D8-4A4C-B4AE-B57B7F5FA461}"/>
              </a:ext>
            </a:extLst>
          </p:cNvPr>
          <p:cNvSpPr>
            <a:spLocks xmlns:a="http://schemas.openxmlformats.org/drawingml/2006/main" noGrp="1"/>
          </p:cNvSpPr>
          <p:nvPr/>
        </p:nvSpPr>
        <p:spPr>
          <a:xfrm xmlns:a="http://schemas.openxmlformats.org/drawingml/2006/main">
            <a:off x="800100" y="8115300"/>
            <a:ext cx="157353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8D2C8"/>
            </a:solidFill>
          </a:ln>
        </p:spPr>
      </p:sp>
      <p:sp>
        <p:nvSpPr>
          <p:cNvPr id="23" name="">
            <a:extLst xmlns:a="http://schemas.openxmlformats.org/drawingml/2006/main">
              <a:ext uri="{FF2B5EF4-FFF2-40B4-BE49-F238E27FC236}">
                <a16:creationId xmlns:a16="http://schemas.microsoft.com/office/drawing/2014/main" id="{3F58D870-BA49-487E-B9C4-43814DA9CB07}"/>
              </a:ext>
            </a:extLst>
          </p:cNvPr>
          <p:cNvSpPr>
            <a:spLocks xmlns:a="http://schemas.openxmlformats.org/drawingml/2006/main" noGrp="1"/>
          </p:cNvSpPr>
          <p:nvPr/>
        </p:nvSpPr>
        <p:spPr>
          <a:xfrm xmlns:a="http://schemas.openxmlformats.org/drawingml/2006/main">
            <a:off x="1066800" y="8229600"/>
            <a:ext cx="952500" cy="3048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anchor="t">
            <a:normAutofit fontScale="84848"/>
          </a:bodyPr>
          <a:lstStyle xmlns:a="http://schemas.openxmlformats.org/drawingml/2006/main"/>
          <a:p xmlns:a="http://schemas.openxmlformats.org/drawingml/2006/main">
            <a:pPr>
              <a:defRPr sz="1650" b="1">
                <a:solidFill>
                  <a:srgbClr val="8A2B34"/>
                </a:solidFill>
                <a:latin typeface="Trebuchet MS"/>
                <a:ea typeface="Trebuchet MS"/>
                <a:cs typeface="Trebuchet MS"/>
              </a:defRPr>
            </a:pPr>
            <a:r>
              <a:t>5.</a:t>
            </a:r>
          </a:p>
        </p:txBody>
      </p:sp>
      <p:sp>
        <p:nvSpPr>
          <p:cNvPr id="24" name="">
            <a:extLst xmlns:a="http://schemas.openxmlformats.org/drawingml/2006/main">
              <a:ext uri="{FF2B5EF4-FFF2-40B4-BE49-F238E27FC236}">
                <a16:creationId xmlns:a16="http://schemas.microsoft.com/office/drawing/2014/main" id="{7D68F5AE-4191-43A7-B188-BECA5F146D3B}"/>
              </a:ext>
            </a:extLst>
          </p:cNvPr>
          <p:cNvSpPr>
            <a:spLocks xmlns:a="http://schemas.openxmlformats.org/drawingml/2006/main" noGrp="1"/>
          </p:cNvSpPr>
          <p:nvPr/>
        </p:nvSpPr>
        <p:spPr>
          <a:xfrm xmlns:a="http://schemas.openxmlformats.org/drawingml/2006/main">
            <a:off x="1562100" y="8210550"/>
            <a:ext cx="14649450" cy="3810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Extensible architecture for future mobile, analytics, and teacher features</a:t>
            </a:r>
          </a:p>
        </p:txBody>
      </p:sp>
    </p:spTree>
    <p:extLst>
      <p:ext uri="{BB962C8B-B14F-4D97-AF65-F5344CB8AC3E}">
        <p14:creationId xmlns:p14="http://schemas.microsoft.com/office/powerpoint/2010/main" val="1769386730"/>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674D8F-C546-4D7D-86DA-10CC934F1A67}"/>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FE0272-82AA-4925-8741-A5C23592FE74}"/>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Current Constraints</a:t>
            </a:r>
          </a:p>
        </p:txBody>
      </p:sp>
      <p:sp>
        <p:nvSpPr>
          <p:cNvPr id="3" name="">
            <a:extLst xmlns:a="http://schemas.openxmlformats.org/drawingml/2006/main">
              <a:ext uri="{FF2B5EF4-FFF2-40B4-BE49-F238E27FC236}">
                <a16:creationId xmlns:a16="http://schemas.microsoft.com/office/drawing/2014/main" id="{1981E796-6D7B-4335-A03F-0B6E11FAB193}"/>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EE616A-70D6-490C-AFBF-81CD12931334}"/>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C5853CFA-4A99-4231-8814-05A806A29D83}"/>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16/20</a:t>
            </a:r>
          </a:p>
        </p:txBody>
      </p:sp>
      <p:sp>
        <p:nvSpPr>
          <p:cNvPr id="6" name="">
            <a:extLst xmlns:a="http://schemas.openxmlformats.org/drawingml/2006/main">
              <a:ext uri="{FF2B5EF4-FFF2-40B4-BE49-F238E27FC236}">
                <a16:creationId xmlns:a16="http://schemas.microsoft.com/office/drawing/2014/main" id="{0D4A17DB-C926-4AE3-8870-2EC08D939EF4}"/>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Limitations</a:t>
            </a:r>
          </a:p>
        </p:txBody>
      </p:sp>
      <p:sp>
        <p:nvSpPr>
          <p:cNvPr id="7" name="">
            <a:extLst xmlns:a="http://schemas.openxmlformats.org/drawingml/2006/main">
              <a:ext uri="{FF2B5EF4-FFF2-40B4-BE49-F238E27FC236}">
                <a16:creationId xmlns:a16="http://schemas.microsoft.com/office/drawing/2014/main" id="{00EF3925-7CB8-47CD-935E-D487BF0F1A2D}"/>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31F99ED-627B-450B-93D7-B164E7C7C83A}"/>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current implementation is functional and extensible, but it still has clear boundaries that define the present project scope.</a:t>
            </a:r>
          </a:p>
        </p:txBody>
      </p:sp>
      <p:sp>
        <p:nvSpPr>
          <p:cNvPr id="9" name="">
            <a:extLst xmlns:a="http://schemas.openxmlformats.org/drawingml/2006/main">
              <a:ext uri="{FF2B5EF4-FFF2-40B4-BE49-F238E27FC236}">
                <a16:creationId xmlns:a16="http://schemas.microsoft.com/office/drawing/2014/main" id="{2E93DB2B-9BC8-4817-9C30-7A6F329CFCF7}"/>
              </a:ext>
            </a:extLst>
          </p:cNvPr>
          <p:cNvSpPr>
            <a:spLocks xmlns:a="http://schemas.openxmlformats.org/drawingml/2006/main" noGrp="1"/>
          </p:cNvSpPr>
          <p:nvPr/>
        </p:nvSpPr>
        <p:spPr>
          <a:xfrm xmlns:a="http://schemas.openxmlformats.org/drawingml/2006/main">
            <a:off x="800100" y="2667000"/>
            <a:ext cx="16687800" cy="1028700"/>
          </a:xfrm>
          <a:prstGeom xmlns:a="http://schemas.openxmlformats.org/drawingml/2006/main" prst="roundRect">
            <a:avLst>
              <a:gd name="adj" fmla="val 7407"/>
            </a:avLst>
          </a:prstGeom>
          <a:solidFill xmlns:a="http://schemas.openxmlformats.org/drawingml/2006/main">
            <a:srgbClr val="E8EEF8"/>
          </a:solidFill>
          <a:ln xmlns:a="http://schemas.openxmlformats.org/drawingml/2006/main" w="9525">
            <a:solidFill>
              <a:srgbClr val="D8D2C8"/>
            </a:solidFill>
          </a:ln>
        </p:spPr>
      </p:sp>
      <p:sp>
        <p:nvSpPr>
          <p:cNvPr id="10" name="">
            <a:extLst xmlns:a="http://schemas.openxmlformats.org/drawingml/2006/main">
              <a:ext uri="{FF2B5EF4-FFF2-40B4-BE49-F238E27FC236}">
                <a16:creationId xmlns:a16="http://schemas.microsoft.com/office/drawing/2014/main" id="{A98D4E01-F425-478D-92EE-FEEC843138EA}"/>
              </a:ext>
            </a:extLst>
          </p:cNvPr>
          <p:cNvSpPr>
            <a:spLocks xmlns:a="http://schemas.openxmlformats.org/drawingml/2006/main" noGrp="1"/>
          </p:cNvSpPr>
          <p:nvPr/>
        </p:nvSpPr>
        <p:spPr>
          <a:xfrm xmlns:a="http://schemas.openxmlformats.org/drawingml/2006/main">
            <a:off x="1143000" y="2990850"/>
            <a:ext cx="16002000" cy="41910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75" b="1">
                <a:solidFill>
                  <a:srgbClr val="1F3061"/>
                </a:solidFill>
                <a:latin typeface="Trebuchet MS"/>
                <a:ea typeface="Trebuchet MS"/>
                <a:cs typeface="Trebuchet MS"/>
              </a:defRPr>
            </a:pPr>
            <a:r>
              <a:t>GradPath is focused on academic support for BCA students rather than a complete institutional LMS.</a:t>
            </a:r>
          </a:p>
        </p:txBody>
      </p:sp>
      <p:sp>
        <p:nvSpPr>
          <p:cNvPr id="11" name="">
            <a:extLst xmlns:a="http://schemas.openxmlformats.org/drawingml/2006/main">
              <a:ext uri="{FF2B5EF4-FFF2-40B4-BE49-F238E27FC236}">
                <a16:creationId xmlns:a16="http://schemas.microsoft.com/office/drawing/2014/main" id="{1C624A62-EFB3-4257-879A-89D8DA35EB39}"/>
              </a:ext>
            </a:extLst>
          </p:cNvPr>
          <p:cNvSpPr>
            <a:spLocks xmlns:a="http://schemas.openxmlformats.org/drawingml/2006/main" noGrp="1"/>
          </p:cNvSpPr>
          <p:nvPr/>
        </p:nvSpPr>
        <p:spPr>
          <a:xfrm xmlns:a="http://schemas.openxmlformats.org/drawingml/2006/main">
            <a:off x="800100" y="4324350"/>
            <a:ext cx="7810500" cy="3714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00">
                <a:solidFill>
                  <a:srgbClr val="334155"/>
                </a:solidFill>
                <a:latin typeface="Trebuchet MS"/>
                <a:ea typeface="Trebuchet MS"/>
                <a:cs typeface="Trebuchet MS"/>
              </a:defRPr>
            </a:pPr>
            <a:r>
              <a:t>- AI features depend on internet access and Gemini API availability.</a:t>
            </a:r>
          </a:p>
          <a:p xmlns:a="http://schemas.openxmlformats.org/drawingml/2006/main">
            <a:pPr>
              <a:defRPr sz="1800">
                <a:solidFill>
                  <a:srgbClr val="334155"/>
                </a:solidFill>
                <a:latin typeface="Trebuchet MS"/>
                <a:ea typeface="Trebuchet MS"/>
                <a:cs typeface="Trebuchet MS"/>
              </a:defRPr>
            </a:pPr>
            <a:r>
              <a:t>- The current build does not include attendance, fee handling, or exam enrollment workflows.</a:t>
            </a:r>
          </a:p>
          <a:p xmlns:a="http://schemas.openxmlformats.org/drawingml/2006/main">
            <a:pPr>
              <a:defRPr sz="1800">
                <a:solidFill>
                  <a:srgbClr val="334155"/>
                </a:solidFill>
                <a:latin typeface="Trebuchet MS"/>
                <a:ea typeface="Trebuchet MS"/>
                <a:cs typeface="Trebuchet MS"/>
              </a:defRPr>
            </a:pPr>
            <a:r>
              <a:t>- Deep semantic indexing of uploaded PDF content is still limited in the present version.</a:t>
            </a:r>
          </a:p>
          <a:p xmlns:a="http://schemas.openxmlformats.org/drawingml/2006/main">
            <a:pPr>
              <a:defRPr sz="1800">
                <a:solidFill>
                  <a:srgbClr val="334155"/>
                </a:solidFill>
                <a:latin typeface="Trebuchet MS"/>
                <a:ea typeface="Trebuchet MS"/>
                <a:cs typeface="Trebuchet MS"/>
              </a:defRPr>
            </a:pPr>
            <a:r>
              <a:t>- Mobile offline access, notifications, and teacher-side monitoring are not yet implemented.</a:t>
            </a:r>
          </a:p>
        </p:txBody>
      </p:sp>
      <p:sp>
        <p:nvSpPr>
          <p:cNvPr id="12" name="">
            <a:extLst xmlns:a="http://schemas.openxmlformats.org/drawingml/2006/main">
              <a:ext uri="{FF2B5EF4-FFF2-40B4-BE49-F238E27FC236}">
                <a16:creationId xmlns:a16="http://schemas.microsoft.com/office/drawing/2014/main" id="{49190A33-52B3-4C50-A44C-3A6942174788}"/>
              </a:ext>
            </a:extLst>
          </p:cNvPr>
          <p:cNvSpPr>
            <a:spLocks xmlns:a="http://schemas.openxmlformats.org/drawingml/2006/main" noGrp="1"/>
          </p:cNvSpPr>
          <p:nvPr/>
        </p:nvSpPr>
        <p:spPr>
          <a:xfrm xmlns:a="http://schemas.openxmlformats.org/drawingml/2006/main">
            <a:off x="9601200" y="4114800"/>
            <a:ext cx="7886700" cy="4191000"/>
          </a:xfrm>
          <a:prstGeom xmlns:a="http://schemas.openxmlformats.org/drawingml/2006/main" prst="roundRect">
            <a:avLst>
              <a:gd name="adj" fmla="val 1818"/>
            </a:avLst>
          </a:prstGeom>
          <a:solidFill xmlns:a="http://schemas.openxmlformats.org/drawingml/2006/main">
            <a:srgbClr val="FFFFFF"/>
          </a:solidFill>
          <a:ln xmlns:a="http://schemas.openxmlformats.org/drawingml/2006/main" w="9525">
            <a:solidFill>
              <a:srgbClr val="D8D2C8"/>
            </a:solidFill>
          </a:ln>
        </p:spPr>
      </p:sp>
      <p:sp>
        <p:nvSpPr>
          <p:cNvPr id="13" name="">
            <a:extLst xmlns:a="http://schemas.openxmlformats.org/drawingml/2006/main">
              <a:ext uri="{FF2B5EF4-FFF2-40B4-BE49-F238E27FC236}">
                <a16:creationId xmlns:a16="http://schemas.microsoft.com/office/drawing/2014/main" id="{7120F276-2080-424D-A958-FC086EF8490A}"/>
              </a:ext>
            </a:extLst>
          </p:cNvPr>
          <p:cNvSpPr>
            <a:spLocks xmlns:a="http://schemas.openxmlformats.org/drawingml/2006/main" noGrp="1"/>
          </p:cNvSpPr>
          <p:nvPr/>
        </p:nvSpPr>
        <p:spPr>
          <a:xfrm xmlns:a="http://schemas.openxmlformats.org/drawingml/2006/main">
            <a:off x="10096500" y="4667250"/>
            <a:ext cx="6858000" cy="2552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025">
                <a:solidFill>
                  <a:srgbClr val="101828"/>
                </a:solidFill>
                <a:latin typeface="Trebuchet MS"/>
                <a:ea typeface="Trebuchet MS"/>
                <a:cs typeface="Trebuchet MS"/>
              </a:defRPr>
            </a:pPr>
            <a:r>
              <a:t>These limitations do not weaken the project objective. Instead, they define the next logical expansion areas while keeping the current system academically relevant and technically manageable for a major-project scope.</a:t>
            </a:r>
          </a:p>
        </p:txBody>
      </p:sp>
    </p:spTree>
    <p:extLst>
      <p:ext uri="{BB962C8B-B14F-4D97-AF65-F5344CB8AC3E}">
        <p14:creationId xmlns:p14="http://schemas.microsoft.com/office/powerpoint/2010/main" val="300831793"/>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18B2B5-09C9-4A78-9E51-AD203BF7CDF0}"/>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1795CCD-7138-4CB5-8262-ABD2CB4AAD93}"/>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Roadmap</a:t>
            </a:r>
          </a:p>
        </p:txBody>
      </p:sp>
      <p:sp>
        <p:nvSpPr>
          <p:cNvPr id="3" name="">
            <a:extLst xmlns:a="http://schemas.openxmlformats.org/drawingml/2006/main">
              <a:ext uri="{FF2B5EF4-FFF2-40B4-BE49-F238E27FC236}">
                <a16:creationId xmlns:a16="http://schemas.microsoft.com/office/drawing/2014/main" id="{C1E54BC4-6CCA-4CE6-ACEC-BF69D6557402}"/>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59501F-5F7A-4908-8433-A45B463BC4F5}"/>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D70D1DD7-B20C-4F94-B09C-023055F741F4}"/>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17/20</a:t>
            </a:r>
          </a:p>
        </p:txBody>
      </p:sp>
      <p:sp>
        <p:nvSpPr>
          <p:cNvPr id="6" name="">
            <a:extLst xmlns:a="http://schemas.openxmlformats.org/drawingml/2006/main">
              <a:ext uri="{FF2B5EF4-FFF2-40B4-BE49-F238E27FC236}">
                <a16:creationId xmlns:a16="http://schemas.microsoft.com/office/drawing/2014/main" id="{6F102020-114B-44A2-AC56-5C9A63C1FA8D}"/>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Future Scope</a:t>
            </a:r>
          </a:p>
        </p:txBody>
      </p:sp>
      <p:sp>
        <p:nvSpPr>
          <p:cNvPr id="7" name="">
            <a:extLst xmlns:a="http://schemas.openxmlformats.org/drawingml/2006/main">
              <a:ext uri="{FF2B5EF4-FFF2-40B4-BE49-F238E27FC236}">
                <a16:creationId xmlns:a16="http://schemas.microsoft.com/office/drawing/2014/main" id="{6E99643B-E06F-4122-96A0-24FCD4927CAB}"/>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C647B8-FBB3-40A9-BCFF-782D29E48503}"/>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project already has a modular base, so future work can grow the platform without redesigning its core structure.</a:t>
            </a:r>
          </a:p>
        </p:txBody>
      </p:sp>
      <p:sp>
        <p:nvSpPr>
          <p:cNvPr id="9" name="">
            <a:extLst xmlns:a="http://schemas.openxmlformats.org/drawingml/2006/main">
              <a:ext uri="{FF2B5EF4-FFF2-40B4-BE49-F238E27FC236}">
                <a16:creationId xmlns:a16="http://schemas.microsoft.com/office/drawing/2014/main" id="{4880FFFF-8D11-4C4E-9146-6CC6AD7F79FA}"/>
              </a:ext>
            </a:extLst>
          </p:cNvPr>
          <p:cNvSpPr>
            <a:spLocks xmlns:a="http://schemas.openxmlformats.org/drawingml/2006/main" noGrp="1"/>
          </p:cNvSpPr>
          <p:nvPr/>
        </p:nvSpPr>
        <p:spPr>
          <a:xfrm xmlns:a="http://schemas.openxmlformats.org/drawingml/2006/main">
            <a:off x="800100" y="2762250"/>
            <a:ext cx="7524750" cy="1219200"/>
          </a:xfrm>
          <a:prstGeom xmlns:a="http://schemas.openxmlformats.org/drawingml/2006/main" prst="roundRect">
            <a:avLst>
              <a:gd name="adj" fmla="val 6250"/>
            </a:avLst>
          </a:prstGeom>
          <a:solidFill xmlns:a="http://schemas.openxmlformats.org/drawingml/2006/main">
            <a:srgbClr val="E8F0E2"/>
          </a:solidFill>
          <a:ln xmlns:a="http://schemas.openxmlformats.org/drawingml/2006/main" w="9525">
            <a:solidFill>
              <a:srgbClr val="D8D2C8"/>
            </a:solidFill>
          </a:ln>
        </p:spPr>
      </p:sp>
      <p:sp>
        <p:nvSpPr>
          <p:cNvPr id="10" name="">
            <a:extLst xmlns:a="http://schemas.openxmlformats.org/drawingml/2006/main">
              <a:ext uri="{FF2B5EF4-FFF2-40B4-BE49-F238E27FC236}">
                <a16:creationId xmlns:a16="http://schemas.microsoft.com/office/drawing/2014/main" id="{44A07A58-16CE-450C-A01C-8CA740ECD469}"/>
              </a:ext>
            </a:extLst>
          </p:cNvPr>
          <p:cNvSpPr>
            <a:spLocks xmlns:a="http://schemas.openxmlformats.org/drawingml/2006/main" noGrp="1"/>
          </p:cNvSpPr>
          <p:nvPr/>
        </p:nvSpPr>
        <p:spPr>
          <a:xfrm xmlns:a="http://schemas.openxmlformats.org/drawingml/2006/main">
            <a:off x="1028700" y="2990850"/>
            <a:ext cx="7620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8A2B34"/>
                </a:solidFill>
                <a:latin typeface="Trebuchet MS"/>
                <a:ea typeface="Trebuchet MS"/>
                <a:cs typeface="Trebuchet MS"/>
              </a:defRPr>
            </a:pPr>
            <a:r>
              <a:t>01</a:t>
            </a:r>
          </a:p>
        </p:txBody>
      </p:sp>
      <p:sp>
        <p:nvSpPr>
          <p:cNvPr id="11" name="">
            <a:extLst xmlns:a="http://schemas.openxmlformats.org/drawingml/2006/main">
              <a:ext uri="{FF2B5EF4-FFF2-40B4-BE49-F238E27FC236}">
                <a16:creationId xmlns:a16="http://schemas.microsoft.com/office/drawing/2014/main" id="{67F5CB29-BE6E-4BAC-8F1A-36E10C9B65C5}"/>
              </a:ext>
            </a:extLst>
          </p:cNvPr>
          <p:cNvSpPr>
            <a:spLocks xmlns:a="http://schemas.openxmlformats.org/drawingml/2006/main" noGrp="1"/>
          </p:cNvSpPr>
          <p:nvPr/>
        </p:nvSpPr>
        <p:spPr>
          <a:xfrm xmlns:a="http://schemas.openxmlformats.org/drawingml/2006/main">
            <a:off x="1981200" y="3028950"/>
            <a:ext cx="5829300" cy="68580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101828"/>
                </a:solidFill>
                <a:latin typeface="Trebuchet MS"/>
                <a:ea typeface="Trebuchet MS"/>
                <a:cs typeface="Trebuchet MS"/>
              </a:defRPr>
            </a:pPr>
            <a:r>
              <a:t>Mobile app with push notifications and offline resource access</a:t>
            </a:r>
          </a:p>
        </p:txBody>
      </p:sp>
      <p:sp>
        <p:nvSpPr>
          <p:cNvPr id="12" name="">
            <a:extLst xmlns:a="http://schemas.openxmlformats.org/drawingml/2006/main">
              <a:ext uri="{FF2B5EF4-FFF2-40B4-BE49-F238E27FC236}">
                <a16:creationId xmlns:a16="http://schemas.microsoft.com/office/drawing/2014/main" id="{498ABC44-9746-42D4-A03B-CC1148891A2F}"/>
              </a:ext>
            </a:extLst>
          </p:cNvPr>
          <p:cNvSpPr>
            <a:spLocks xmlns:a="http://schemas.openxmlformats.org/drawingml/2006/main" noGrp="1"/>
          </p:cNvSpPr>
          <p:nvPr/>
        </p:nvSpPr>
        <p:spPr>
          <a:xfrm xmlns:a="http://schemas.openxmlformats.org/drawingml/2006/main">
            <a:off x="9163050" y="2762250"/>
            <a:ext cx="7524750" cy="1219200"/>
          </a:xfrm>
          <a:prstGeom xmlns:a="http://schemas.openxmlformats.org/drawingml/2006/main" prst="roundRect">
            <a:avLst>
              <a:gd name="adj" fmla="val 6250"/>
            </a:avLst>
          </a:prstGeom>
          <a:solidFill xmlns:a="http://schemas.openxmlformats.org/drawingml/2006/main">
            <a:srgbClr val="E8EEF8"/>
          </a:solidFill>
          <a:ln xmlns:a="http://schemas.openxmlformats.org/drawingml/2006/main" w="9525">
            <a:solidFill>
              <a:srgbClr val="D8D2C8"/>
            </a:solidFill>
          </a:ln>
        </p:spPr>
      </p:sp>
      <p:sp>
        <p:nvSpPr>
          <p:cNvPr id="13" name="">
            <a:extLst xmlns:a="http://schemas.openxmlformats.org/drawingml/2006/main">
              <a:ext uri="{FF2B5EF4-FFF2-40B4-BE49-F238E27FC236}">
                <a16:creationId xmlns:a16="http://schemas.microsoft.com/office/drawing/2014/main" id="{6802E567-D052-478F-9668-BE5EE60ACE46}"/>
              </a:ext>
            </a:extLst>
          </p:cNvPr>
          <p:cNvSpPr>
            <a:spLocks xmlns:a="http://schemas.openxmlformats.org/drawingml/2006/main" noGrp="1"/>
          </p:cNvSpPr>
          <p:nvPr/>
        </p:nvSpPr>
        <p:spPr>
          <a:xfrm xmlns:a="http://schemas.openxmlformats.org/drawingml/2006/main">
            <a:off x="9391650" y="2990850"/>
            <a:ext cx="7620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8A2B34"/>
                </a:solidFill>
                <a:latin typeface="Trebuchet MS"/>
                <a:ea typeface="Trebuchet MS"/>
                <a:cs typeface="Trebuchet MS"/>
              </a:defRPr>
            </a:pPr>
            <a:r>
              <a:t>02</a:t>
            </a:r>
          </a:p>
        </p:txBody>
      </p:sp>
      <p:sp>
        <p:nvSpPr>
          <p:cNvPr id="14" name="">
            <a:extLst xmlns:a="http://schemas.openxmlformats.org/drawingml/2006/main">
              <a:ext uri="{FF2B5EF4-FFF2-40B4-BE49-F238E27FC236}">
                <a16:creationId xmlns:a16="http://schemas.microsoft.com/office/drawing/2014/main" id="{0A1E7FC9-1D05-4105-874D-6AA9FB3C4B7E}"/>
              </a:ext>
            </a:extLst>
          </p:cNvPr>
          <p:cNvSpPr>
            <a:spLocks xmlns:a="http://schemas.openxmlformats.org/drawingml/2006/main" noGrp="1"/>
          </p:cNvSpPr>
          <p:nvPr/>
        </p:nvSpPr>
        <p:spPr>
          <a:xfrm xmlns:a="http://schemas.openxmlformats.org/drawingml/2006/main">
            <a:off x="10344150" y="3028950"/>
            <a:ext cx="5829300" cy="68580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101828"/>
                </a:solidFill>
                <a:latin typeface="Trebuchet MS"/>
                <a:ea typeface="Trebuchet MS"/>
                <a:cs typeface="Trebuchet MS"/>
              </a:defRPr>
            </a:pPr>
            <a:r>
              <a:t>PDF text indexing and semantic search over uploaded notes</a:t>
            </a:r>
          </a:p>
        </p:txBody>
      </p:sp>
      <p:sp>
        <p:nvSpPr>
          <p:cNvPr id="15" name="">
            <a:extLst xmlns:a="http://schemas.openxmlformats.org/drawingml/2006/main">
              <a:ext uri="{FF2B5EF4-FFF2-40B4-BE49-F238E27FC236}">
                <a16:creationId xmlns:a16="http://schemas.microsoft.com/office/drawing/2014/main" id="{182AC3B5-1FE7-4CD6-B2E9-1C5F3C59B065}"/>
              </a:ext>
            </a:extLst>
          </p:cNvPr>
          <p:cNvSpPr>
            <a:spLocks xmlns:a="http://schemas.openxmlformats.org/drawingml/2006/main" noGrp="1"/>
          </p:cNvSpPr>
          <p:nvPr/>
        </p:nvSpPr>
        <p:spPr>
          <a:xfrm xmlns:a="http://schemas.openxmlformats.org/drawingml/2006/main">
            <a:off x="800100" y="4438650"/>
            <a:ext cx="7524750" cy="1219200"/>
          </a:xfrm>
          <a:prstGeom xmlns:a="http://schemas.openxmlformats.org/drawingml/2006/main" prst="roundRect">
            <a:avLst>
              <a:gd name="adj" fmla="val 6250"/>
            </a:avLst>
          </a:prstGeom>
          <a:solidFill xmlns:a="http://schemas.openxmlformats.org/drawingml/2006/main">
            <a:srgbClr val="E8F0E2"/>
          </a:solidFill>
          <a:ln xmlns:a="http://schemas.openxmlformats.org/drawingml/2006/main" w="9525">
            <a:solidFill>
              <a:srgbClr val="D8D2C8"/>
            </a:solidFill>
          </a:ln>
        </p:spPr>
      </p:sp>
      <p:sp>
        <p:nvSpPr>
          <p:cNvPr id="16" name="">
            <a:extLst xmlns:a="http://schemas.openxmlformats.org/drawingml/2006/main">
              <a:ext uri="{FF2B5EF4-FFF2-40B4-BE49-F238E27FC236}">
                <a16:creationId xmlns:a16="http://schemas.microsoft.com/office/drawing/2014/main" id="{095A8E36-B6C4-4A5C-9536-BEFAB634C999}"/>
              </a:ext>
            </a:extLst>
          </p:cNvPr>
          <p:cNvSpPr>
            <a:spLocks xmlns:a="http://schemas.openxmlformats.org/drawingml/2006/main" noGrp="1"/>
          </p:cNvSpPr>
          <p:nvPr/>
        </p:nvSpPr>
        <p:spPr>
          <a:xfrm xmlns:a="http://schemas.openxmlformats.org/drawingml/2006/main">
            <a:off x="1028700" y="4667250"/>
            <a:ext cx="7620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8A2B34"/>
                </a:solidFill>
                <a:latin typeface="Trebuchet MS"/>
                <a:ea typeface="Trebuchet MS"/>
                <a:cs typeface="Trebuchet MS"/>
              </a:defRPr>
            </a:pPr>
            <a:r>
              <a:t>03</a:t>
            </a:r>
          </a:p>
        </p:txBody>
      </p:sp>
      <p:sp>
        <p:nvSpPr>
          <p:cNvPr id="17" name="">
            <a:extLst xmlns:a="http://schemas.openxmlformats.org/drawingml/2006/main">
              <a:ext uri="{FF2B5EF4-FFF2-40B4-BE49-F238E27FC236}">
                <a16:creationId xmlns:a16="http://schemas.microsoft.com/office/drawing/2014/main" id="{C32E16BA-287F-4B1B-B0BB-BE1C078CDB71}"/>
              </a:ext>
            </a:extLst>
          </p:cNvPr>
          <p:cNvSpPr>
            <a:spLocks xmlns:a="http://schemas.openxmlformats.org/drawingml/2006/main" noGrp="1"/>
          </p:cNvSpPr>
          <p:nvPr/>
        </p:nvSpPr>
        <p:spPr>
          <a:xfrm xmlns:a="http://schemas.openxmlformats.org/drawingml/2006/main">
            <a:off x="1981200" y="4705350"/>
            <a:ext cx="5829300" cy="68580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101828"/>
                </a:solidFill>
                <a:latin typeface="Trebuchet MS"/>
                <a:ea typeface="Trebuchet MS"/>
                <a:cs typeface="Trebuchet MS"/>
              </a:defRPr>
            </a:pPr>
            <a:r>
              <a:t>Teacher or guide dashboard for monitoring student progress</a:t>
            </a:r>
          </a:p>
        </p:txBody>
      </p:sp>
      <p:sp>
        <p:nvSpPr>
          <p:cNvPr id="18" name="">
            <a:extLst xmlns:a="http://schemas.openxmlformats.org/drawingml/2006/main">
              <a:ext uri="{FF2B5EF4-FFF2-40B4-BE49-F238E27FC236}">
                <a16:creationId xmlns:a16="http://schemas.microsoft.com/office/drawing/2014/main" id="{5524CB72-9A10-418B-AB69-EB3876D00D68}"/>
              </a:ext>
            </a:extLst>
          </p:cNvPr>
          <p:cNvSpPr>
            <a:spLocks xmlns:a="http://schemas.openxmlformats.org/drawingml/2006/main" noGrp="1"/>
          </p:cNvSpPr>
          <p:nvPr/>
        </p:nvSpPr>
        <p:spPr>
          <a:xfrm xmlns:a="http://schemas.openxmlformats.org/drawingml/2006/main">
            <a:off x="9163050" y="4438650"/>
            <a:ext cx="7524750" cy="1219200"/>
          </a:xfrm>
          <a:prstGeom xmlns:a="http://schemas.openxmlformats.org/drawingml/2006/main" prst="roundRect">
            <a:avLst>
              <a:gd name="adj" fmla="val 6250"/>
            </a:avLst>
          </a:prstGeom>
          <a:solidFill xmlns:a="http://schemas.openxmlformats.org/drawingml/2006/main">
            <a:srgbClr val="E8EEF8"/>
          </a:solidFill>
          <a:ln xmlns:a="http://schemas.openxmlformats.org/drawingml/2006/main" w="9525">
            <a:solidFill>
              <a:srgbClr val="D8D2C8"/>
            </a:solidFill>
          </a:ln>
        </p:spPr>
      </p:sp>
      <p:sp>
        <p:nvSpPr>
          <p:cNvPr id="19" name="">
            <a:extLst xmlns:a="http://schemas.openxmlformats.org/drawingml/2006/main">
              <a:ext uri="{FF2B5EF4-FFF2-40B4-BE49-F238E27FC236}">
                <a16:creationId xmlns:a16="http://schemas.microsoft.com/office/drawing/2014/main" id="{010F5880-D0BE-4F6B-916E-931FDC80263D}"/>
              </a:ext>
            </a:extLst>
          </p:cNvPr>
          <p:cNvSpPr>
            <a:spLocks xmlns:a="http://schemas.openxmlformats.org/drawingml/2006/main" noGrp="1"/>
          </p:cNvSpPr>
          <p:nvPr/>
        </p:nvSpPr>
        <p:spPr>
          <a:xfrm xmlns:a="http://schemas.openxmlformats.org/drawingml/2006/main">
            <a:off x="9391650" y="4667250"/>
            <a:ext cx="7620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8A2B34"/>
                </a:solidFill>
                <a:latin typeface="Trebuchet MS"/>
                <a:ea typeface="Trebuchet MS"/>
                <a:cs typeface="Trebuchet MS"/>
              </a:defRPr>
            </a:pPr>
            <a:r>
              <a:t>04</a:t>
            </a:r>
          </a:p>
        </p:txBody>
      </p:sp>
      <p:sp>
        <p:nvSpPr>
          <p:cNvPr id="20" name="">
            <a:extLst xmlns:a="http://schemas.openxmlformats.org/drawingml/2006/main">
              <a:ext uri="{FF2B5EF4-FFF2-40B4-BE49-F238E27FC236}">
                <a16:creationId xmlns:a16="http://schemas.microsoft.com/office/drawing/2014/main" id="{E0B115FA-2D90-42AB-8FE1-318E0185B999}"/>
              </a:ext>
            </a:extLst>
          </p:cNvPr>
          <p:cNvSpPr>
            <a:spLocks xmlns:a="http://schemas.openxmlformats.org/drawingml/2006/main" noGrp="1"/>
          </p:cNvSpPr>
          <p:nvPr/>
        </p:nvSpPr>
        <p:spPr>
          <a:xfrm xmlns:a="http://schemas.openxmlformats.org/drawingml/2006/main">
            <a:off x="10344150" y="4705350"/>
            <a:ext cx="5829300" cy="68580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101828"/>
                </a:solidFill>
                <a:latin typeface="Trebuchet MS"/>
                <a:ea typeface="Trebuchet MS"/>
                <a:cs typeface="Trebuchet MS"/>
              </a:defRPr>
            </a:pPr>
            <a:r>
              <a:t>Automated timetable, reminder, and deadline notifications</a:t>
            </a:r>
          </a:p>
        </p:txBody>
      </p:sp>
      <p:sp>
        <p:nvSpPr>
          <p:cNvPr id="21" name="">
            <a:extLst xmlns:a="http://schemas.openxmlformats.org/drawingml/2006/main">
              <a:ext uri="{FF2B5EF4-FFF2-40B4-BE49-F238E27FC236}">
                <a16:creationId xmlns:a16="http://schemas.microsoft.com/office/drawing/2014/main" id="{1A13EC18-DB45-4CCE-BF6E-D9E118862405}"/>
              </a:ext>
            </a:extLst>
          </p:cNvPr>
          <p:cNvSpPr>
            <a:spLocks xmlns:a="http://schemas.openxmlformats.org/drawingml/2006/main" noGrp="1"/>
          </p:cNvSpPr>
          <p:nvPr/>
        </p:nvSpPr>
        <p:spPr>
          <a:xfrm xmlns:a="http://schemas.openxmlformats.org/drawingml/2006/main">
            <a:off x="800100" y="6115050"/>
            <a:ext cx="7524750" cy="1219200"/>
          </a:xfrm>
          <a:prstGeom xmlns:a="http://schemas.openxmlformats.org/drawingml/2006/main" prst="roundRect">
            <a:avLst>
              <a:gd name="adj" fmla="val 6250"/>
            </a:avLst>
          </a:prstGeom>
          <a:solidFill xmlns:a="http://schemas.openxmlformats.org/drawingml/2006/main">
            <a:srgbClr val="E8F0E2"/>
          </a:solidFill>
          <a:ln xmlns:a="http://schemas.openxmlformats.org/drawingml/2006/main" w="9525">
            <a:solidFill>
              <a:srgbClr val="D8D2C8"/>
            </a:solidFill>
          </a:ln>
        </p:spPr>
      </p:sp>
      <p:sp>
        <p:nvSpPr>
          <p:cNvPr id="22" name="">
            <a:extLst xmlns:a="http://schemas.openxmlformats.org/drawingml/2006/main">
              <a:ext uri="{FF2B5EF4-FFF2-40B4-BE49-F238E27FC236}">
                <a16:creationId xmlns:a16="http://schemas.microsoft.com/office/drawing/2014/main" id="{5F04F77B-F749-44ED-9DC4-3598FDD83F96}"/>
              </a:ext>
            </a:extLst>
          </p:cNvPr>
          <p:cNvSpPr>
            <a:spLocks xmlns:a="http://schemas.openxmlformats.org/drawingml/2006/main" noGrp="1"/>
          </p:cNvSpPr>
          <p:nvPr/>
        </p:nvSpPr>
        <p:spPr>
          <a:xfrm xmlns:a="http://schemas.openxmlformats.org/drawingml/2006/main">
            <a:off x="1028700" y="6343650"/>
            <a:ext cx="7620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8A2B34"/>
                </a:solidFill>
                <a:latin typeface="Trebuchet MS"/>
                <a:ea typeface="Trebuchet MS"/>
                <a:cs typeface="Trebuchet MS"/>
              </a:defRPr>
            </a:pPr>
            <a:r>
              <a:t>05</a:t>
            </a:r>
          </a:p>
        </p:txBody>
      </p:sp>
      <p:sp>
        <p:nvSpPr>
          <p:cNvPr id="23" name="">
            <a:extLst xmlns:a="http://schemas.openxmlformats.org/drawingml/2006/main">
              <a:ext uri="{FF2B5EF4-FFF2-40B4-BE49-F238E27FC236}">
                <a16:creationId xmlns:a16="http://schemas.microsoft.com/office/drawing/2014/main" id="{68A658A2-8264-43F0-A8A7-AB8626175256}"/>
              </a:ext>
            </a:extLst>
          </p:cNvPr>
          <p:cNvSpPr>
            <a:spLocks xmlns:a="http://schemas.openxmlformats.org/drawingml/2006/main" noGrp="1"/>
          </p:cNvSpPr>
          <p:nvPr/>
        </p:nvSpPr>
        <p:spPr>
          <a:xfrm xmlns:a="http://schemas.openxmlformats.org/drawingml/2006/main">
            <a:off x="1981200" y="6381750"/>
            <a:ext cx="5829300" cy="685800"/>
          </a:xfrm>
          <a:prstGeom xmlns:a="http://schemas.openxmlformats.org/drawingml/2006/main" prst="rect">
            <a:avLst/>
          </a:prstGeom>
          <a:solidFill xmlns:a="http://schemas.openxmlformats.org/drawingml/2006/main">
            <a:srgbClr val="E8F0E2"/>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101828"/>
                </a:solidFill>
                <a:latin typeface="Trebuchet MS"/>
                <a:ea typeface="Trebuchet MS"/>
                <a:cs typeface="Trebuchet MS"/>
              </a:defRPr>
            </a:pPr>
            <a:r>
              <a:t>Deeper analytics for PYQ trends and weak topics</a:t>
            </a:r>
          </a:p>
        </p:txBody>
      </p:sp>
      <p:sp>
        <p:nvSpPr>
          <p:cNvPr id="24" name="">
            <a:extLst xmlns:a="http://schemas.openxmlformats.org/drawingml/2006/main">
              <a:ext uri="{FF2B5EF4-FFF2-40B4-BE49-F238E27FC236}">
                <a16:creationId xmlns:a16="http://schemas.microsoft.com/office/drawing/2014/main" id="{2957DBD6-FB56-4FD3-86C9-0D6D85830753}"/>
              </a:ext>
            </a:extLst>
          </p:cNvPr>
          <p:cNvSpPr>
            <a:spLocks xmlns:a="http://schemas.openxmlformats.org/drawingml/2006/main" noGrp="1"/>
          </p:cNvSpPr>
          <p:nvPr/>
        </p:nvSpPr>
        <p:spPr>
          <a:xfrm xmlns:a="http://schemas.openxmlformats.org/drawingml/2006/main">
            <a:off x="9163050" y="6115050"/>
            <a:ext cx="7524750" cy="1219200"/>
          </a:xfrm>
          <a:prstGeom xmlns:a="http://schemas.openxmlformats.org/drawingml/2006/main" prst="roundRect">
            <a:avLst>
              <a:gd name="adj" fmla="val 6250"/>
            </a:avLst>
          </a:prstGeom>
          <a:solidFill xmlns:a="http://schemas.openxmlformats.org/drawingml/2006/main">
            <a:srgbClr val="E8EEF8"/>
          </a:solidFill>
          <a:ln xmlns:a="http://schemas.openxmlformats.org/drawingml/2006/main" w="9525">
            <a:solidFill>
              <a:srgbClr val="D8D2C8"/>
            </a:solidFill>
          </a:ln>
        </p:spPr>
      </p:sp>
      <p:sp>
        <p:nvSpPr>
          <p:cNvPr id="25" name="">
            <a:extLst xmlns:a="http://schemas.openxmlformats.org/drawingml/2006/main">
              <a:ext uri="{FF2B5EF4-FFF2-40B4-BE49-F238E27FC236}">
                <a16:creationId xmlns:a16="http://schemas.microsoft.com/office/drawing/2014/main" id="{1FD0C42C-D25E-4A1B-BCDF-33BD7CC8086C}"/>
              </a:ext>
            </a:extLst>
          </p:cNvPr>
          <p:cNvSpPr>
            <a:spLocks xmlns:a="http://schemas.openxmlformats.org/drawingml/2006/main" noGrp="1"/>
          </p:cNvSpPr>
          <p:nvPr/>
        </p:nvSpPr>
        <p:spPr>
          <a:xfrm xmlns:a="http://schemas.openxmlformats.org/drawingml/2006/main">
            <a:off x="9391650" y="6343650"/>
            <a:ext cx="762000" cy="28575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8A2B34"/>
                </a:solidFill>
                <a:latin typeface="Trebuchet MS"/>
                <a:ea typeface="Trebuchet MS"/>
                <a:cs typeface="Trebuchet MS"/>
              </a:defRPr>
            </a:pPr>
            <a:r>
              <a:t>06</a:t>
            </a:r>
          </a:p>
        </p:txBody>
      </p:sp>
      <p:sp>
        <p:nvSpPr>
          <p:cNvPr id="26" name="">
            <a:extLst xmlns:a="http://schemas.openxmlformats.org/drawingml/2006/main">
              <a:ext uri="{FF2B5EF4-FFF2-40B4-BE49-F238E27FC236}">
                <a16:creationId xmlns:a16="http://schemas.microsoft.com/office/drawing/2014/main" id="{882FEB64-1C4B-41DC-8220-EABFBF464442}"/>
              </a:ext>
            </a:extLst>
          </p:cNvPr>
          <p:cNvSpPr>
            <a:spLocks xmlns:a="http://schemas.openxmlformats.org/drawingml/2006/main" noGrp="1"/>
          </p:cNvSpPr>
          <p:nvPr/>
        </p:nvSpPr>
        <p:spPr>
          <a:xfrm xmlns:a="http://schemas.openxmlformats.org/drawingml/2006/main">
            <a:off x="10344150" y="6381750"/>
            <a:ext cx="5829300" cy="68580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725">
                <a:solidFill>
                  <a:srgbClr val="101828"/>
                </a:solidFill>
                <a:latin typeface="Trebuchet MS"/>
                <a:ea typeface="Trebuchet MS"/>
                <a:cs typeface="Trebuchet MS"/>
              </a:defRPr>
            </a:pPr>
            <a:r>
              <a:t>Support for multiple departments and universities</a:t>
            </a:r>
          </a:p>
        </p:txBody>
      </p:sp>
    </p:spTree>
    <p:extLst>
      <p:ext uri="{BB962C8B-B14F-4D97-AF65-F5344CB8AC3E}">
        <p14:creationId xmlns:p14="http://schemas.microsoft.com/office/powerpoint/2010/main" val="1589016174"/>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8A5596C-2E82-44E5-B52E-137C34D73969}"/>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9E7E0D-E073-4585-83FD-753FA391AF9D}"/>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Close</a:t>
            </a:r>
          </a:p>
        </p:txBody>
      </p:sp>
      <p:sp>
        <p:nvSpPr>
          <p:cNvPr id="3" name="">
            <a:extLst xmlns:a="http://schemas.openxmlformats.org/drawingml/2006/main">
              <a:ext uri="{FF2B5EF4-FFF2-40B4-BE49-F238E27FC236}">
                <a16:creationId xmlns:a16="http://schemas.microsoft.com/office/drawing/2014/main" id="{236E6FA4-1115-4ADE-83A3-A07C8A1B54AB}"/>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CCA17F-137E-486D-8ABC-D2147093AC41}"/>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39A1F2A5-99DF-491A-AB5B-1641DB1AF19E}"/>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18/20</a:t>
            </a:r>
          </a:p>
        </p:txBody>
      </p:sp>
      <p:sp>
        <p:nvSpPr>
          <p:cNvPr id="6" name="">
            <a:extLst xmlns:a="http://schemas.openxmlformats.org/drawingml/2006/main">
              <a:ext uri="{FF2B5EF4-FFF2-40B4-BE49-F238E27FC236}">
                <a16:creationId xmlns:a16="http://schemas.microsoft.com/office/drawing/2014/main" id="{4B67D21E-A469-484E-A2B7-F6F72DE400CC}"/>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Conclusion</a:t>
            </a:r>
          </a:p>
        </p:txBody>
      </p:sp>
      <p:sp>
        <p:nvSpPr>
          <p:cNvPr id="7" name="">
            <a:extLst xmlns:a="http://schemas.openxmlformats.org/drawingml/2006/main">
              <a:ext uri="{FF2B5EF4-FFF2-40B4-BE49-F238E27FC236}">
                <a16:creationId xmlns:a16="http://schemas.microsoft.com/office/drawing/2014/main" id="{4ACA8BD2-EDF3-4CAF-B1BD-AAF457BBE608}"/>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5A58DD-272C-485A-9DB3-CB86362100D0}"/>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GradPath successfully demonstrates the design and implementation of a modern academic command center for BCA students.</a:t>
            </a:r>
          </a:p>
        </p:txBody>
      </p:sp>
      <p:sp>
        <p:nvSpPr>
          <p:cNvPr id="9" name="">
            <a:extLst xmlns:a="http://schemas.openxmlformats.org/drawingml/2006/main">
              <a:ext uri="{FF2B5EF4-FFF2-40B4-BE49-F238E27FC236}">
                <a16:creationId xmlns:a16="http://schemas.microsoft.com/office/drawing/2014/main" id="{95920899-A081-4C60-B452-CD2E5F57FEC7}"/>
              </a:ext>
            </a:extLst>
          </p:cNvPr>
          <p:cNvSpPr>
            <a:spLocks xmlns:a="http://schemas.openxmlformats.org/drawingml/2006/main" noGrp="1"/>
          </p:cNvSpPr>
          <p:nvPr/>
        </p:nvSpPr>
        <p:spPr>
          <a:xfrm xmlns:a="http://schemas.openxmlformats.org/drawingml/2006/main">
            <a:off x="800100" y="2762250"/>
            <a:ext cx="16097250" cy="2571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100">
                <a:solidFill>
                  <a:srgbClr val="101828"/>
                </a:solidFill>
                <a:latin typeface="Trebuchet MS"/>
                <a:ea typeface="Trebuchet MS"/>
                <a:cs typeface="Trebuchet MS"/>
              </a:defRPr>
            </a:pPr>
            <a:r>
              <a:t>The platform brings together dashboard monitoring, assignments, academic resources, PYQ practice, AI tutoring, quizzes, flashcards, model papers, progress tracking, and result planning in one structured environment. It solves the core problem of scattered academic information by giving students one authenticated workspace for planning, study, and revision.</a:t>
            </a:r>
          </a:p>
        </p:txBody>
      </p:sp>
      <p:sp>
        <p:nvSpPr>
          <p:cNvPr id="10" name="">
            <a:extLst xmlns:a="http://schemas.openxmlformats.org/drawingml/2006/main">
              <a:ext uri="{FF2B5EF4-FFF2-40B4-BE49-F238E27FC236}">
                <a16:creationId xmlns:a16="http://schemas.microsoft.com/office/drawing/2014/main" id="{C669162D-642D-4A10-B47E-28B0DDAC605F}"/>
              </a:ext>
            </a:extLst>
          </p:cNvPr>
          <p:cNvSpPr>
            <a:spLocks xmlns:a="http://schemas.openxmlformats.org/drawingml/2006/main" noGrp="1"/>
          </p:cNvSpPr>
          <p:nvPr/>
        </p:nvSpPr>
        <p:spPr>
          <a:xfrm xmlns:a="http://schemas.openxmlformats.org/drawingml/2006/main">
            <a:off x="800100" y="5924550"/>
            <a:ext cx="16687800" cy="1676400"/>
          </a:xfrm>
          <a:prstGeom xmlns:a="http://schemas.openxmlformats.org/drawingml/2006/main" prst="roundRect">
            <a:avLst>
              <a:gd name="adj" fmla="val 4545"/>
            </a:avLst>
          </a:prstGeom>
          <a:solidFill xmlns:a="http://schemas.openxmlformats.org/drawingml/2006/main">
            <a:srgbClr val="E8EEF8"/>
          </a:solidFill>
          <a:ln xmlns:a="http://schemas.openxmlformats.org/drawingml/2006/main" w="9525">
            <a:solidFill>
              <a:srgbClr val="D8D2C8"/>
            </a:solidFill>
          </a:ln>
        </p:spPr>
      </p:sp>
      <p:sp>
        <p:nvSpPr>
          <p:cNvPr id="11" name="">
            <a:extLst xmlns:a="http://schemas.openxmlformats.org/drawingml/2006/main">
              <a:ext uri="{FF2B5EF4-FFF2-40B4-BE49-F238E27FC236}">
                <a16:creationId xmlns:a16="http://schemas.microsoft.com/office/drawing/2014/main" id="{C25701AC-5FF5-47C1-80DF-D6C62C00D5E7}"/>
              </a:ext>
            </a:extLst>
          </p:cNvPr>
          <p:cNvSpPr>
            <a:spLocks xmlns:a="http://schemas.openxmlformats.org/drawingml/2006/main" noGrp="1"/>
          </p:cNvSpPr>
          <p:nvPr/>
        </p:nvSpPr>
        <p:spPr>
          <a:xfrm xmlns:a="http://schemas.openxmlformats.org/drawingml/2006/main">
            <a:off x="1162050" y="6343650"/>
            <a:ext cx="15963900" cy="800100"/>
          </a:xfrm>
          <a:prstGeom xmlns:a="http://schemas.openxmlformats.org/drawingml/2006/main" prst="rect">
            <a:avLst/>
          </a:prstGeom>
          <a:solidFill xmlns:a="http://schemas.openxmlformats.org/drawingml/2006/main">
            <a:srgbClr val="E8EEF8"/>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75" b="1">
                <a:solidFill>
                  <a:srgbClr val="1F3061"/>
                </a:solidFill>
                <a:latin typeface="Trebuchet MS"/>
                <a:ea typeface="Trebuchet MS"/>
                <a:cs typeface="Trebuchet MS"/>
              </a:defRPr>
            </a:pPr>
            <a:r>
              <a:t>From a technical perspective, the project demonstrates full-stack development, secure APIs, database modeling, cloud integration, testing, and AI-assisted functionality in a way that is both practical and extensible.</a:t>
            </a:r>
          </a:p>
        </p:txBody>
      </p:sp>
    </p:spTree>
    <p:extLst>
      <p:ext uri="{BB962C8B-B14F-4D97-AF65-F5344CB8AC3E}">
        <p14:creationId xmlns:p14="http://schemas.microsoft.com/office/powerpoint/2010/main" val="1965809779"/>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76A478-DC41-4B2D-9C2F-F7CC07B08D2C}"/>
              </a:ext>
            </a:extLst>
          </p:cNvPr>
          <p:cNvSpPr>
            <a:spLocks xmlns:a="http://schemas.openxmlformats.org/drawingml/2006/main" noGrp="1"/>
          </p:cNvSpPr>
          <p:nvPr/>
        </p:nvSpPr>
        <p:spPr>
          <a:xfrm xmlns:a="http://schemas.openxmlformats.org/drawingml/2006/main">
            <a:off x="0" y="0"/>
            <a:ext cx="18288000" cy="171450"/>
          </a:xfrm>
          <a:prstGeom xmlns:a="http://schemas.openxmlformats.org/drawingml/2006/main" prst="rect">
            <a:avLst/>
          </a:prstGeom>
          <a:solidFill xmlns:a="http://schemas.openxmlformats.org/drawingml/2006/main">
            <a:srgbClr val="B9D6A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3656FD-1960-454B-8ECE-605188BEC4B2}"/>
              </a:ext>
            </a:extLst>
          </p:cNvPr>
          <p:cNvSpPr>
            <a:spLocks xmlns:a="http://schemas.openxmlformats.org/drawingml/2006/main" noGrp="1"/>
          </p:cNvSpPr>
          <p:nvPr/>
        </p:nvSpPr>
        <p:spPr>
          <a:xfrm xmlns:a="http://schemas.openxmlformats.org/drawingml/2006/main">
            <a:off x="800100" y="381000"/>
            <a:ext cx="1771650" cy="323850"/>
          </a:xfrm>
          <a:prstGeom xmlns:a="http://schemas.openxmlformats.org/drawingml/2006/main" prst="roundRect">
            <a:avLst>
              <a:gd name="adj" fmla="val 23529"/>
            </a:avLst>
          </a:prstGeom>
          <a:solidFill xmlns:a="http://schemas.openxmlformats.org/drawingml/2006/main">
            <a:srgbClr val="B9D6A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3061"/>
                </a:solidFill>
                <a:latin typeface="Trebuchet MS"/>
                <a:ea typeface="Trebuchet MS"/>
                <a:cs typeface="Trebuchet MS"/>
              </a:defRPr>
            </a:pPr>
            <a:r>
              <a:t>Sources</a:t>
            </a:r>
          </a:p>
        </p:txBody>
      </p:sp>
      <p:sp>
        <p:nvSpPr>
          <p:cNvPr id="3" name="">
            <a:extLst xmlns:a="http://schemas.openxmlformats.org/drawingml/2006/main">
              <a:ext uri="{FF2B5EF4-FFF2-40B4-BE49-F238E27FC236}">
                <a16:creationId xmlns:a16="http://schemas.microsoft.com/office/drawing/2014/main" id="{1E081091-B649-4DEB-A0EE-8E8461D001A9}"/>
              </a:ext>
            </a:extLst>
          </p:cNvPr>
          <p:cNvSpPr>
            <a:spLocks xmlns:a="http://schemas.openxmlformats.org/drawingml/2006/main" noGrp="1"/>
          </p:cNvSpPr>
          <p:nvPr/>
        </p:nvSpPr>
        <p:spPr>
          <a:xfrm xmlns:a="http://schemas.openxmlformats.org/drawingml/2006/main">
            <a:off x="800100" y="9505950"/>
            <a:ext cx="166878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2B1AB7-2A7A-40A9-8B52-ECDD3CEE37F7}"/>
              </a:ext>
            </a:extLst>
          </p:cNvPr>
          <p:cNvSpPr>
            <a:spLocks xmlns:a="http://schemas.openxmlformats.org/drawingml/2006/main" noGrp="1"/>
          </p:cNvSpPr>
          <p:nvPr/>
        </p:nvSpPr>
        <p:spPr>
          <a:xfrm xmlns:a="http://schemas.openxmlformats.org/drawingml/2006/main">
            <a:off x="800100" y="9620250"/>
            <a:ext cx="4000500" cy="2667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975">
                <a:solidFill>
                  <a:srgbClr val="667085"/>
                </a:solidFill>
                <a:latin typeface="Trebuchet MS"/>
                <a:ea typeface="Trebuchet MS"/>
                <a:cs typeface="Trebuchet MS"/>
              </a:defRPr>
            </a:pPr>
            <a:r>
              <a:t>GradPath | BCA Major Project Presentation</a:t>
            </a:r>
          </a:p>
        </p:txBody>
      </p:sp>
      <p:sp>
        <p:nvSpPr>
          <p:cNvPr id="5" name="">
            <a:extLst xmlns:a="http://schemas.openxmlformats.org/drawingml/2006/main">
              <a:ext uri="{FF2B5EF4-FFF2-40B4-BE49-F238E27FC236}">
                <a16:creationId xmlns:a16="http://schemas.microsoft.com/office/drawing/2014/main" id="{387F5628-7048-418D-B013-DF96BF8D7C63}"/>
              </a:ext>
            </a:extLst>
          </p:cNvPr>
          <p:cNvSpPr>
            <a:spLocks xmlns:a="http://schemas.openxmlformats.org/drawingml/2006/main" noGrp="1"/>
          </p:cNvSpPr>
          <p:nvPr/>
        </p:nvSpPr>
        <p:spPr>
          <a:xfrm xmlns:a="http://schemas.openxmlformats.org/drawingml/2006/main">
            <a:off x="16344900" y="9582150"/>
            <a:ext cx="1143000" cy="285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lgn="r">
              <a:defRPr sz="1050" b="1">
                <a:solidFill>
                  <a:srgbClr val="1F3061"/>
                </a:solidFill>
                <a:latin typeface="Trebuchet MS"/>
                <a:ea typeface="Trebuchet MS"/>
                <a:cs typeface="Trebuchet MS"/>
              </a:defRPr>
            </a:pPr>
            <a:r>
              <a:t>19/20</a:t>
            </a:r>
          </a:p>
        </p:txBody>
      </p:sp>
      <p:sp>
        <p:nvSpPr>
          <p:cNvPr id="6" name="">
            <a:extLst xmlns:a="http://schemas.openxmlformats.org/drawingml/2006/main">
              <a:ext uri="{FF2B5EF4-FFF2-40B4-BE49-F238E27FC236}">
                <a16:creationId xmlns:a16="http://schemas.microsoft.com/office/drawing/2014/main" id="{8C267D2A-B3C2-4ECE-A067-C85B8D82CDC6}"/>
              </a:ext>
            </a:extLst>
          </p:cNvPr>
          <p:cNvSpPr>
            <a:spLocks xmlns:a="http://schemas.openxmlformats.org/drawingml/2006/main" noGrp="1"/>
          </p:cNvSpPr>
          <p:nvPr/>
        </p:nvSpPr>
        <p:spPr>
          <a:xfrm xmlns:a="http://schemas.openxmlformats.org/drawingml/2006/main">
            <a:off x="800100" y="876300"/>
            <a:ext cx="12573000" cy="6286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700" b="1">
                <a:solidFill>
                  <a:srgbClr val="1F3061"/>
                </a:solidFill>
                <a:latin typeface="Cambria"/>
                <a:ea typeface="Cambria"/>
                <a:cs typeface="Cambria"/>
              </a:defRPr>
            </a:pPr>
            <a:r>
              <a:t>References</a:t>
            </a:r>
          </a:p>
        </p:txBody>
      </p:sp>
      <p:sp>
        <p:nvSpPr>
          <p:cNvPr id="7" name="">
            <a:extLst xmlns:a="http://schemas.openxmlformats.org/drawingml/2006/main">
              <a:ext uri="{FF2B5EF4-FFF2-40B4-BE49-F238E27FC236}">
                <a16:creationId xmlns:a16="http://schemas.microsoft.com/office/drawing/2014/main" id="{54726159-9431-42E8-B2AE-581895E87D93}"/>
              </a:ext>
            </a:extLst>
          </p:cNvPr>
          <p:cNvSpPr>
            <a:spLocks xmlns:a="http://schemas.openxmlformats.org/drawingml/2006/main" noGrp="1"/>
          </p:cNvSpPr>
          <p:nvPr/>
        </p:nvSpPr>
        <p:spPr>
          <a:xfrm xmlns:a="http://schemas.openxmlformats.org/drawingml/2006/main">
            <a:off x="800100" y="1562100"/>
            <a:ext cx="1619250" cy="38100"/>
          </a:xfrm>
          <a:prstGeom xmlns:a="http://schemas.openxmlformats.org/drawingml/2006/main" prst="rect">
            <a:avLst/>
          </a:prstGeom>
          <a:solidFill xmlns:a="http://schemas.openxmlformats.org/drawingml/2006/main">
            <a:srgbClr val="8A2B3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1756F2-ECCF-406B-BF0A-C0F78382677A}"/>
              </a:ext>
            </a:extLst>
          </p:cNvPr>
          <p:cNvSpPr>
            <a:spLocks xmlns:a="http://schemas.openxmlformats.org/drawingml/2006/main" noGrp="1"/>
          </p:cNvSpPr>
          <p:nvPr/>
        </p:nvSpPr>
        <p:spPr>
          <a:xfrm xmlns:a="http://schemas.openxmlformats.org/drawingml/2006/main">
            <a:off x="800100" y="1733550"/>
            <a:ext cx="11620500" cy="4953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350">
                <a:solidFill>
                  <a:srgbClr val="667085"/>
                </a:solidFill>
                <a:latin typeface="Trebuchet MS"/>
                <a:ea typeface="Trebuchet MS"/>
                <a:cs typeface="Trebuchet MS"/>
              </a:defRPr>
            </a:pPr>
            <a:r>
              <a:t>The presentation and project report were prepared using the following technical references and the local GradPath project source code.</a:t>
            </a:r>
          </a:p>
        </p:txBody>
      </p:sp>
      <p:sp>
        <p:nvSpPr>
          <p:cNvPr id="9" name="">
            <a:extLst xmlns:a="http://schemas.openxmlformats.org/drawingml/2006/main">
              <a:ext uri="{FF2B5EF4-FFF2-40B4-BE49-F238E27FC236}">
                <a16:creationId xmlns:a16="http://schemas.microsoft.com/office/drawing/2014/main" id="{F39DC7B4-63E3-471F-A709-BF227E2454C8}"/>
              </a:ext>
            </a:extLst>
          </p:cNvPr>
          <p:cNvSpPr>
            <a:spLocks xmlns:a="http://schemas.openxmlformats.org/drawingml/2006/main" noGrp="1"/>
          </p:cNvSpPr>
          <p:nvPr/>
        </p:nvSpPr>
        <p:spPr>
          <a:xfrm xmlns:a="http://schemas.openxmlformats.org/drawingml/2006/main">
            <a:off x="800100" y="2724150"/>
            <a:ext cx="7734300" cy="5676900"/>
          </a:xfrm>
          <a:prstGeom xmlns:a="http://schemas.openxmlformats.org/drawingml/2006/main" prst="roundRect">
            <a:avLst>
              <a:gd name="adj" fmla="val 1342"/>
            </a:avLst>
          </a:prstGeom>
          <a:solidFill xmlns:a="http://schemas.openxmlformats.org/drawingml/2006/main">
            <a:srgbClr val="FFFFFF"/>
          </a:solidFill>
          <a:ln xmlns:a="http://schemas.openxmlformats.org/drawingml/2006/main" w="9525">
            <a:solidFill>
              <a:srgbClr val="D8D2C8"/>
            </a:solidFill>
          </a:ln>
        </p:spPr>
      </p:sp>
      <p:sp>
        <p:nvSpPr>
          <p:cNvPr id="10" name="">
            <a:extLst xmlns:a="http://schemas.openxmlformats.org/drawingml/2006/main">
              <a:ext uri="{FF2B5EF4-FFF2-40B4-BE49-F238E27FC236}">
                <a16:creationId xmlns:a16="http://schemas.microsoft.com/office/drawing/2014/main" id="{009E1972-AE36-4925-AEE6-28453204CB60}"/>
              </a:ext>
            </a:extLst>
          </p:cNvPr>
          <p:cNvSpPr>
            <a:spLocks xmlns:a="http://schemas.openxmlformats.org/drawingml/2006/main" noGrp="1"/>
          </p:cNvSpPr>
          <p:nvPr/>
        </p:nvSpPr>
        <p:spPr>
          <a:xfrm xmlns:a="http://schemas.openxmlformats.org/drawingml/2006/main">
            <a:off x="8953500" y="2724150"/>
            <a:ext cx="8534400" cy="5676900"/>
          </a:xfrm>
          <a:prstGeom xmlns:a="http://schemas.openxmlformats.org/drawingml/2006/main" prst="roundRect">
            <a:avLst>
              <a:gd name="adj" fmla="val 1342"/>
            </a:avLst>
          </a:prstGeom>
          <a:solidFill xmlns:a="http://schemas.openxmlformats.org/drawingml/2006/main">
            <a:srgbClr val="FFFFFF"/>
          </a:solidFill>
          <a:ln xmlns:a="http://schemas.openxmlformats.org/drawingml/2006/main" w="9525">
            <a:solidFill>
              <a:srgbClr val="D8D2C8"/>
            </a:solidFill>
          </a:ln>
        </p:spPr>
      </p:sp>
      <p:sp>
        <p:nvSpPr>
          <p:cNvPr id="11" name="">
            <a:extLst xmlns:a="http://schemas.openxmlformats.org/drawingml/2006/main">
              <a:ext uri="{FF2B5EF4-FFF2-40B4-BE49-F238E27FC236}">
                <a16:creationId xmlns:a16="http://schemas.microsoft.com/office/drawing/2014/main" id="{4DB83A47-0BE1-4355-BF51-C33A9FED9035}"/>
              </a:ext>
            </a:extLst>
          </p:cNvPr>
          <p:cNvSpPr>
            <a:spLocks xmlns:a="http://schemas.openxmlformats.org/drawingml/2006/main" noGrp="1"/>
          </p:cNvSpPr>
          <p:nvPr/>
        </p:nvSpPr>
        <p:spPr>
          <a:xfrm xmlns:a="http://schemas.openxmlformats.org/drawingml/2006/main">
            <a:off x="1143000" y="3143250"/>
            <a:ext cx="7048500" cy="47625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00">
                <a:solidFill>
                  <a:srgbClr val="334155"/>
                </a:solidFill>
                <a:latin typeface="Trebuchet MS"/>
                <a:ea typeface="Trebuchet MS"/>
                <a:cs typeface="Trebuchet MS"/>
              </a:defRPr>
            </a:pPr>
            <a:r>
              <a:t>1. Next.js Documentation</a:t>
            </a:r>
          </a:p>
          <a:p xmlns:a="http://schemas.openxmlformats.org/drawingml/2006/main">
            <a:pPr>
              <a:defRPr sz="1800">
                <a:solidFill>
                  <a:srgbClr val="334155"/>
                </a:solidFill>
                <a:latin typeface="Trebuchet MS"/>
                <a:ea typeface="Trebuchet MS"/>
                <a:cs typeface="Trebuchet MS"/>
              </a:defRPr>
            </a:pPr>
            <a:r>
              <a:t>2. React Documentation</a:t>
            </a:r>
          </a:p>
          <a:p xmlns:a="http://schemas.openxmlformats.org/drawingml/2006/main">
            <a:pPr>
              <a:defRPr sz="1800">
                <a:solidFill>
                  <a:srgbClr val="334155"/>
                </a:solidFill>
                <a:latin typeface="Trebuchet MS"/>
                <a:ea typeface="Trebuchet MS"/>
                <a:cs typeface="Trebuchet MS"/>
              </a:defRPr>
            </a:pPr>
            <a:r>
              <a:t>3. Express.js Documentation</a:t>
            </a:r>
          </a:p>
          <a:p xmlns:a="http://schemas.openxmlformats.org/drawingml/2006/main">
            <a:pPr>
              <a:defRPr sz="1800">
                <a:solidFill>
                  <a:srgbClr val="334155"/>
                </a:solidFill>
                <a:latin typeface="Trebuchet MS"/>
                <a:ea typeface="Trebuchet MS"/>
                <a:cs typeface="Trebuchet MS"/>
              </a:defRPr>
            </a:pPr>
            <a:r>
              <a:t>4. MongoDB Documentation</a:t>
            </a:r>
          </a:p>
          <a:p xmlns:a="http://schemas.openxmlformats.org/drawingml/2006/main">
            <a:pPr>
              <a:defRPr sz="1800">
                <a:solidFill>
                  <a:srgbClr val="334155"/>
                </a:solidFill>
                <a:latin typeface="Trebuchet MS"/>
                <a:ea typeface="Trebuchet MS"/>
                <a:cs typeface="Trebuchet MS"/>
              </a:defRPr>
            </a:pPr>
            <a:r>
              <a:t>5. Mongoose Documentation</a:t>
            </a:r>
          </a:p>
          <a:p xmlns:a="http://schemas.openxmlformats.org/drawingml/2006/main">
            <a:pPr>
              <a:defRPr sz="1800">
                <a:solidFill>
                  <a:srgbClr val="334155"/>
                </a:solidFill>
                <a:latin typeface="Trebuchet MS"/>
                <a:ea typeface="Trebuchet MS"/>
                <a:cs typeface="Trebuchet MS"/>
              </a:defRPr>
            </a:pPr>
            <a:r>
              <a:t>6. Cloudinary Documentation</a:t>
            </a:r>
          </a:p>
        </p:txBody>
      </p:sp>
      <p:sp>
        <p:nvSpPr>
          <p:cNvPr id="12" name="">
            <a:extLst xmlns:a="http://schemas.openxmlformats.org/drawingml/2006/main">
              <a:ext uri="{FF2B5EF4-FFF2-40B4-BE49-F238E27FC236}">
                <a16:creationId xmlns:a16="http://schemas.microsoft.com/office/drawing/2014/main" id="{D11362AE-46EF-44C8-A217-12FFC561A2C5}"/>
              </a:ext>
            </a:extLst>
          </p:cNvPr>
          <p:cNvSpPr>
            <a:spLocks xmlns:a="http://schemas.openxmlformats.org/drawingml/2006/main" noGrp="1"/>
          </p:cNvSpPr>
          <p:nvPr/>
        </p:nvSpPr>
        <p:spPr>
          <a:xfrm xmlns:a="http://schemas.openxmlformats.org/drawingml/2006/main">
            <a:off x="9296400" y="3143250"/>
            <a:ext cx="7848600" cy="47625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800">
                <a:solidFill>
                  <a:srgbClr val="334155"/>
                </a:solidFill>
                <a:latin typeface="Trebuchet MS"/>
                <a:ea typeface="Trebuchet MS"/>
                <a:cs typeface="Trebuchet MS"/>
              </a:defRPr>
            </a:pPr>
            <a:r>
              <a:t>7. Google Gemini API Documentation</a:t>
            </a:r>
          </a:p>
          <a:p xmlns:a="http://schemas.openxmlformats.org/drawingml/2006/main">
            <a:pPr>
              <a:defRPr sz="1800">
                <a:solidFill>
                  <a:srgbClr val="334155"/>
                </a:solidFill>
                <a:latin typeface="Trebuchet MS"/>
                <a:ea typeface="Trebuchet MS"/>
                <a:cs typeface="Trebuchet MS"/>
              </a:defRPr>
            </a:pPr>
            <a:r>
              <a:t>8. Tailwind CSS Documentation</a:t>
            </a:r>
          </a:p>
          <a:p xmlns:a="http://schemas.openxmlformats.org/drawingml/2006/main">
            <a:pPr>
              <a:defRPr sz="1800">
                <a:solidFill>
                  <a:srgbClr val="334155"/>
                </a:solidFill>
                <a:latin typeface="Trebuchet MS"/>
                <a:ea typeface="Trebuchet MS"/>
                <a:cs typeface="Trebuchet MS"/>
              </a:defRPr>
            </a:pPr>
            <a:r>
              <a:t>9. JWT Introduction</a:t>
            </a:r>
          </a:p>
          <a:p xmlns:a="http://schemas.openxmlformats.org/drawingml/2006/main">
            <a:pPr>
              <a:defRPr sz="1800">
                <a:solidFill>
                  <a:srgbClr val="334155"/>
                </a:solidFill>
                <a:latin typeface="Trebuchet MS"/>
                <a:ea typeface="Trebuchet MS"/>
                <a:cs typeface="Trebuchet MS"/>
              </a:defRPr>
            </a:pPr>
            <a:r>
              <a:t>10. Node.js Documentation</a:t>
            </a:r>
          </a:p>
          <a:p xmlns:a="http://schemas.openxmlformats.org/drawingml/2006/main">
            <a:pPr>
              <a:defRPr sz="1800">
                <a:solidFill>
                  <a:srgbClr val="334155"/>
                </a:solidFill>
                <a:latin typeface="Trebuchet MS"/>
                <a:ea typeface="Trebuchet MS"/>
                <a:cs typeface="Trebuchet MS"/>
              </a:defRPr>
            </a:pPr>
            <a:r>
              <a:t>11. GradPath Local Project Source Code</a:t>
            </a:r>
          </a:p>
        </p:txBody>
      </p:sp>
    </p:spTree>
    <p:extLst>
      <p:ext uri="{BB962C8B-B14F-4D97-AF65-F5344CB8AC3E}">
        <p14:creationId xmlns:p14="http://schemas.microsoft.com/office/powerpoint/2010/main" val="1965478844"/>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9BCA80-1B09-466E-8BE9-72F4132BC5E9}"/>
              </a:ext>
            </a:extLst>
          </p:cNvPr>
          <p:cNvSpPr>
            <a:spLocks xmlns:a="http://schemas.openxmlformats.org/drawingml/2006/main" noGrp="1"/>
          </p:cNvSpPr>
          <p:nvPr/>
        </p:nvSpPr>
        <p:spPr>
          <a:xfrm xmlns:a="http://schemas.openxmlformats.org/drawingml/2006/main">
            <a:off x="0" y="0"/>
            <a:ext cx="2667000" cy="10287000"/>
          </a:xfrm>
          <a:prstGeom xmlns:a="http://schemas.openxmlformats.org/drawingml/2006/main" prst="rect">
            <a:avLst/>
          </a:prstGeom>
          <a:solidFill xmlns:a="http://schemas.openxmlformats.org/drawingml/2006/main">
            <a:srgbClr val="E8EEF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DC1CBA-4C79-4F95-BBCD-9A2F84A6FFF4}"/>
              </a:ext>
            </a:extLst>
          </p:cNvPr>
          <p:cNvSpPr>
            <a:spLocks xmlns:a="http://schemas.openxmlformats.org/drawingml/2006/main" noGrp="1"/>
          </p:cNvSpPr>
          <p:nvPr/>
        </p:nvSpPr>
        <p:spPr>
          <a:xfrm xmlns:a="http://schemas.openxmlformats.org/drawingml/2006/main">
            <a:off x="2667000" y="0"/>
            <a:ext cx="114300" cy="10287000"/>
          </a:xfrm>
          <a:prstGeom xmlns:a="http://schemas.openxmlformats.org/drawingml/2006/main" prst="rect">
            <a:avLst/>
          </a:prstGeom>
          <a:solidFill xmlns:a="http://schemas.openxmlformats.org/drawingml/2006/main">
            <a:srgbClr val="1F306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B81865-9F9C-43CB-A979-A7108091AE5E}"/>
              </a:ext>
            </a:extLst>
          </p:cNvPr>
          <p:cNvSpPr>
            <a:spLocks xmlns:a="http://schemas.openxmlformats.org/drawingml/2006/main" noGrp="1"/>
          </p:cNvSpPr>
          <p:nvPr/>
        </p:nvSpPr>
        <p:spPr>
          <a:xfrm xmlns:a="http://schemas.openxmlformats.org/drawingml/2006/main">
            <a:off x="3162300" y="1752600"/>
            <a:ext cx="102870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17B4CE-55D9-4166-98F5-8AF9EFCA8A44}"/>
              </a:ext>
            </a:extLst>
          </p:cNvPr>
          <p:cNvSpPr>
            <a:spLocks xmlns:a="http://schemas.openxmlformats.org/drawingml/2006/main" noGrp="1"/>
          </p:cNvSpPr>
          <p:nvPr/>
        </p:nvSpPr>
        <p:spPr>
          <a:xfrm xmlns:a="http://schemas.openxmlformats.org/drawingml/2006/main">
            <a:off x="3162300" y="7924800"/>
            <a:ext cx="11430000" cy="19050"/>
          </a:xfrm>
          <a:prstGeom xmlns:a="http://schemas.openxmlformats.org/drawingml/2006/main" prst="rect">
            <a:avLst/>
          </a:prstGeom>
          <a:solidFill xmlns:a="http://schemas.openxmlformats.org/drawingml/2006/main">
            <a:srgbClr val="EEE5D8"/>
          </a:solidFill>
          <a:ln xmlns:a="http://schemas.openxmlformats.org/drawingml/2006/main" w="0">
            <a:noFill/>
          </a:ln>
        </p:spPr>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d8285e36fce449c"/>
          <a:stretch xmlns:a="http://schemas.openxmlformats.org/drawingml/2006/main"/>
        </p:blipFill>
        <p:spPr>
          <a:xfrm xmlns:a="http://schemas.openxmlformats.org/drawingml/2006/main">
            <a:off x="552450" y="647700"/>
            <a:ext cx="1485900" cy="1485900"/>
          </a:xfrm>
          <a:prstGeom xmlns:a="http://schemas.openxmlformats.org/drawingml/2006/main" prst="rect">
            <a:avLst/>
          </a:prstGeom>
        </p:spPr>
      </p:pic>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921c3d1d84e4c4f"/>
          <a:stretch xmlns:a="http://schemas.openxmlformats.org/drawingml/2006/main"/>
        </p:blipFill>
        <p:spPr>
          <a:xfrm xmlns:a="http://schemas.openxmlformats.org/drawingml/2006/main">
            <a:off x="517948" y="8172450"/>
            <a:ext cx="1612053" cy="1619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7A27C12-90C4-43B6-B6A4-6399FCB5D023}"/>
              </a:ext>
            </a:extLst>
          </p:cNvPr>
          <p:cNvSpPr>
            <a:spLocks xmlns:a="http://schemas.openxmlformats.org/drawingml/2006/main" noGrp="1"/>
          </p:cNvSpPr>
          <p:nvPr/>
        </p:nvSpPr>
        <p:spPr>
          <a:xfrm xmlns:a="http://schemas.openxmlformats.org/drawingml/2006/main">
            <a:off x="3162300" y="2324100"/>
            <a:ext cx="8763000" cy="8382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4500" b="1">
                <a:solidFill>
                  <a:srgbClr val="1F3061"/>
                </a:solidFill>
                <a:latin typeface="Cambria"/>
                <a:ea typeface="Cambria"/>
                <a:cs typeface="Cambria"/>
              </a:defRPr>
            </a:pPr>
            <a:r>
              <a:t>Thank You</a:t>
            </a:r>
          </a:p>
        </p:txBody>
      </p:sp>
      <p:sp>
        <p:nvSpPr>
          <p:cNvPr id="8" name="">
            <a:extLst xmlns:a="http://schemas.openxmlformats.org/drawingml/2006/main">
              <a:ext uri="{FF2B5EF4-FFF2-40B4-BE49-F238E27FC236}">
                <a16:creationId xmlns:a16="http://schemas.microsoft.com/office/drawing/2014/main" id="{27013A8F-73DA-495F-A00F-F7C23841BE9A}"/>
              </a:ext>
            </a:extLst>
          </p:cNvPr>
          <p:cNvSpPr>
            <a:spLocks xmlns:a="http://schemas.openxmlformats.org/drawingml/2006/main" noGrp="1"/>
          </p:cNvSpPr>
          <p:nvPr/>
        </p:nvSpPr>
        <p:spPr>
          <a:xfrm xmlns:a="http://schemas.openxmlformats.org/drawingml/2006/main">
            <a:off x="3162300" y="3352800"/>
            <a:ext cx="9334500" cy="6858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2100" b="1">
                <a:solidFill>
                  <a:srgbClr val="8A2B34"/>
                </a:solidFill>
                <a:latin typeface="Trebuchet MS"/>
                <a:ea typeface="Trebuchet MS"/>
                <a:cs typeface="Trebuchet MS"/>
              </a:defRPr>
            </a:pPr>
            <a:r>
              <a:t>Questions and suggestions are welcome.</a:t>
            </a:r>
          </a:p>
        </p:txBody>
      </p:sp>
      <p:sp>
        <p:nvSpPr>
          <p:cNvPr id="9" name="">
            <a:extLst xmlns:a="http://schemas.openxmlformats.org/drawingml/2006/main">
              <a:ext uri="{FF2B5EF4-FFF2-40B4-BE49-F238E27FC236}">
                <a16:creationId xmlns:a16="http://schemas.microsoft.com/office/drawing/2014/main" id="{7B7F5329-7C29-4B12-A00C-2A938D23B48C}"/>
              </a:ext>
            </a:extLst>
          </p:cNvPr>
          <p:cNvSpPr>
            <a:spLocks xmlns:a="http://schemas.openxmlformats.org/drawingml/2006/main" noGrp="1"/>
          </p:cNvSpPr>
          <p:nvPr/>
        </p:nvSpPr>
        <p:spPr>
          <a:xfrm xmlns:a="http://schemas.openxmlformats.org/drawingml/2006/main">
            <a:off x="3162300" y="4819650"/>
            <a:ext cx="8953500" cy="142875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950" b="1">
                <a:solidFill>
                  <a:srgbClr val="101828"/>
                </a:solidFill>
                <a:latin typeface="Trebuchet MS"/>
                <a:ea typeface="Trebuchet MS"/>
                <a:cs typeface="Trebuchet MS"/>
              </a:defRPr>
            </a:pPr>
            <a:r>
              <a:t>Presented by</a:t>
            </a:r>
          </a:p>
          <a:p xmlns:a="http://schemas.openxmlformats.org/drawingml/2006/main">
            <a:pPr>
              <a:defRPr sz="1950" b="1">
                <a:solidFill>
                  <a:srgbClr val="101828"/>
                </a:solidFill>
                <a:latin typeface="Trebuchet MS"/>
                <a:ea typeface="Trebuchet MS"/>
                <a:cs typeface="Trebuchet MS"/>
              </a:defRPr>
            </a:pPr>
            <a:r>
              <a:t>Mohammad Afsar | Ravi | Gaurav Yadav | Priyanshi</a:t>
            </a:r>
          </a:p>
        </p:txBody>
      </p:sp>
      <p:sp>
        <p:nvSpPr>
          <p:cNvPr id="10" name="">
            <a:extLst xmlns:a="http://schemas.openxmlformats.org/drawingml/2006/main">
              <a:ext uri="{FF2B5EF4-FFF2-40B4-BE49-F238E27FC236}">
                <a16:creationId xmlns:a16="http://schemas.microsoft.com/office/drawing/2014/main" id="{69921634-1697-4CBB-AD10-6EA98AD2483C}"/>
              </a:ext>
            </a:extLst>
          </p:cNvPr>
          <p:cNvSpPr>
            <a:spLocks xmlns:a="http://schemas.openxmlformats.org/drawingml/2006/main" noGrp="1"/>
          </p:cNvSpPr>
          <p:nvPr/>
        </p:nvSpPr>
        <p:spPr>
          <a:xfrm xmlns:a="http://schemas.openxmlformats.org/drawingml/2006/main">
            <a:off x="3162300" y="6705600"/>
            <a:ext cx="8191500" cy="914400"/>
          </a:xfrm>
          <a:prstGeom xmlns:a="http://schemas.openxmlformats.org/drawingml/2006/main" prst="rect">
            <a:avLst/>
          </a:prstGeom>
          <a:solidFill xmlns:a="http://schemas.openxmlformats.org/drawingml/2006/main">
            <a:srgbClr val="F7F4EE"/>
          </a:solidFill>
          <a:ln xmlns:a="http://schemas.openxmlformats.org/drawingml/2006/main" w="0">
            <a:noFill/>
          </a:ln>
        </p:spPr>
        <p:txBody>
          <a:bodyPr xmlns:a="http://schemas.openxmlformats.org/drawingml/2006/main" wrap="square" anchor="t">
            <a:normAutofit fontScale="100000"/>
          </a:bodyPr>
          <a:lstStyle xmlns:a="http://schemas.openxmlformats.org/drawingml/2006/main"/>
          <a:p xmlns:a="http://schemas.openxmlformats.org/drawingml/2006/main">
            <a:pPr>
              <a:defRPr sz="1650">
                <a:solidFill>
                  <a:srgbClr val="334155"/>
                </a:solidFill>
                <a:latin typeface="Trebuchet MS"/>
                <a:ea typeface="Trebuchet MS"/>
                <a:cs typeface="Trebuchet MS"/>
              </a:defRPr>
            </a:pPr>
            <a:r>
              <a:t>Major Project Presentation</a:t>
            </a:r>
          </a:p>
          <a:p xmlns:a="http://schemas.openxmlformats.org/drawingml/2006/main">
            <a:pPr>
              <a:defRPr sz="1650">
                <a:solidFill>
                  <a:srgbClr val="334155"/>
                </a:solidFill>
                <a:latin typeface="Trebuchet MS"/>
                <a:ea typeface="Trebuchet MS"/>
                <a:cs typeface="Trebuchet MS"/>
              </a:defRPr>
            </a:pPr>
            <a:r>
              <a:t>Kailash Institute of Management, GIDA, Gorakhpur</a:t>
            </a:r>
          </a:p>
        </p:txBody>
      </p:sp>
    </p:spTree>
    <p:extLst>
      <p:ext uri="{BB962C8B-B14F-4D97-AF65-F5344CB8AC3E}">
        <p14:creationId xmlns:p14="http://schemas.microsoft.com/office/powerpoint/2010/main" val="17591113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2026-05-08T16:43:21.6060000Z</dcterms:created>
  <dcterms:modified xsi:type="dcterms:W3CDTF">2026-05-08T16:43:21.6060000Z</dcterms:modified>
</coreProperties>
</file>